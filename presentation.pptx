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SmartCity: citizens report civic problems on a map; the city fixes them under public scrutiny. Built end-to-end at HackInMotion.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13"/>
        </a:solidFill>
      </p:bgPr>
    </p:bg>
    <p:spTree>
      <p:nvGrpSpPr>
        <p:cNvPr id="1" name=""/>
        <p:cNvGrpSpPr/>
        <p:nvPr/>
      </p:nvGrpSpPr>
      <p:grpSpPr>
        <a:xfrm>
          <a:off x="0" y="0"/>
          <a:ext cx="0" cy="0"/>
          <a:chOff x="0" y="0"/>
          <a:chExt cx="0" cy="0"/>
        </a:xfrm>
      </p:grpSpPr>
      <p:sp>
        <p:nvSpPr>
          <p:cNvPr id="2" name="Shape 0"/>
          <p:cNvSpPr/>
          <p:nvPr/>
        </p:nvSpPr>
        <p:spPr>
          <a:xfrm>
            <a:off x="-2011680" y="-2377440"/>
            <a:ext cx="6766560" cy="6766560"/>
          </a:xfrm>
          <a:prstGeom prst="ellipse">
            <a:avLst/>
          </a:prstGeom>
          <a:solidFill>
            <a:srgbClr val="5B7BFF">
              <a:alpha val="14000"/>
            </a:srgbClr>
          </a:solidFill>
          <a:ln/>
        </p:spPr>
      </p:sp>
      <p:sp>
        <p:nvSpPr>
          <p:cNvPr id="3" name="Shape 1"/>
          <p:cNvSpPr/>
          <p:nvPr/>
        </p:nvSpPr>
        <p:spPr>
          <a:xfrm>
            <a:off x="8778240" y="3108960"/>
            <a:ext cx="6949440" cy="6949440"/>
          </a:xfrm>
          <a:prstGeom prst="ellipse">
            <a:avLst/>
          </a:prstGeom>
          <a:solidFill>
            <a:srgbClr val="38BDF8">
              <a:alpha val="12000"/>
            </a:srgbClr>
          </a:solidFill>
          <a:ln/>
        </p:spPr>
      </p:sp>
      <p:sp>
        <p:nvSpPr>
          <p:cNvPr id="4" name="Shape 2"/>
          <p:cNvSpPr/>
          <p:nvPr/>
        </p:nvSpPr>
        <p:spPr>
          <a:xfrm>
            <a:off x="4023360" y="5120640"/>
            <a:ext cx="4754880" cy="4754880"/>
          </a:xfrm>
          <a:prstGeom prst="ellipse">
            <a:avLst/>
          </a:prstGeom>
          <a:solidFill>
            <a:srgbClr val="D55181">
              <a:alpha val="10000"/>
            </a:srgbClr>
          </a:solidFill>
          <a:ln/>
        </p:spPr>
      </p:sp>
      <p:sp>
        <p:nvSpPr>
          <p:cNvPr id="5" name="Text 3"/>
          <p:cNvSpPr/>
          <p:nvPr/>
        </p:nvSpPr>
        <p:spPr>
          <a:xfrm>
            <a:off x="5477256" y="932688"/>
            <a:ext cx="1371600" cy="1051560"/>
          </a:xfrm>
          <a:prstGeom prst="rect">
            <a:avLst/>
          </a:prstGeom>
          <a:noFill/>
          <a:ln/>
        </p:spPr>
        <p:txBody>
          <a:bodyPr wrap="square" lIns="0" tIns="0" rIns="0" bIns="0" rtlCol="0" anchor="ctr"/>
          <a:lstStyle/>
          <a:p>
            <a:pPr algn="ctr" indent="0" marL="0">
              <a:buNone/>
            </a:pPr>
            <a:r>
              <a:rPr lang="en-US" sz="6000" dirty="0">
                <a:solidFill>
                  <a:srgbClr val="E7ECFF"/>
                </a:solidFill>
                <a:latin typeface="Calibri" pitchFamily="34" charset="0"/>
                <a:ea typeface="Calibri" pitchFamily="34" charset="-122"/>
                <a:cs typeface="Calibri" pitchFamily="34" charset="-120"/>
              </a:rPr>
              <a:t>🏙</a:t>
            </a:r>
            <a:endParaRPr lang="en-US" sz="6000" dirty="0"/>
          </a:p>
        </p:txBody>
      </p:sp>
      <p:sp>
        <p:nvSpPr>
          <p:cNvPr id="6" name="Text 4"/>
          <p:cNvSpPr/>
          <p:nvPr/>
        </p:nvSpPr>
        <p:spPr>
          <a:xfrm>
            <a:off x="914400" y="1920240"/>
            <a:ext cx="10360152" cy="1143000"/>
          </a:xfrm>
          <a:prstGeom prst="rect">
            <a:avLst/>
          </a:prstGeom>
          <a:noFill/>
          <a:ln/>
        </p:spPr>
        <p:txBody>
          <a:bodyPr wrap="square" lIns="0" tIns="0" rIns="0" bIns="0" rtlCol="0" anchor="ctr"/>
          <a:lstStyle/>
          <a:p>
            <a:pPr algn="ctr" indent="0" marL="0">
              <a:buNone/>
            </a:pPr>
            <a:r>
              <a:rPr lang="en-US" sz="6600" b="1" spc="200" kern="0" dirty="0">
                <a:solidFill>
                  <a:srgbClr val="E7ECFF"/>
                </a:solidFill>
                <a:latin typeface="Calibri" pitchFamily="34" charset="0"/>
                <a:ea typeface="Calibri" pitchFamily="34" charset="-122"/>
                <a:cs typeface="Calibri" pitchFamily="34" charset="-120"/>
              </a:rPr>
              <a:t>SmartCity</a:t>
            </a:r>
            <a:endParaRPr lang="en-US" sz="6600" dirty="0"/>
          </a:p>
        </p:txBody>
      </p:sp>
      <p:sp>
        <p:nvSpPr>
          <p:cNvPr id="7" name="Text 5"/>
          <p:cNvSpPr/>
          <p:nvPr/>
        </p:nvSpPr>
        <p:spPr>
          <a:xfrm>
            <a:off x="914400" y="3108960"/>
            <a:ext cx="10360152" cy="548640"/>
          </a:xfrm>
          <a:prstGeom prst="rect">
            <a:avLst/>
          </a:prstGeom>
          <a:noFill/>
          <a:ln/>
        </p:spPr>
        <p:txBody>
          <a:bodyPr wrap="square" lIns="0" tIns="0" rIns="0" bIns="0" rtlCol="0" anchor="ctr"/>
          <a:lstStyle/>
          <a:p>
            <a:pPr algn="ctr" indent="0" marL="0">
              <a:buNone/>
            </a:pPr>
            <a:r>
              <a:rPr lang="en-US" sz="2200" dirty="0">
                <a:solidFill>
                  <a:srgbClr val="38BDF8"/>
                </a:solidFill>
                <a:latin typeface="Calibri" pitchFamily="34" charset="0"/>
                <a:ea typeface="Calibri" pitchFamily="34" charset="-122"/>
                <a:cs typeface="Calibri" pitchFamily="34" charset="-120"/>
              </a:rPr>
              <a:t>Civic Issue Reporting &amp; Resolution Platform</a:t>
            </a:r>
            <a:endParaRPr lang="en-US" sz="2200" dirty="0"/>
          </a:p>
        </p:txBody>
      </p:sp>
      <p:sp>
        <p:nvSpPr>
          <p:cNvPr id="8" name="Text 6"/>
          <p:cNvSpPr/>
          <p:nvPr/>
        </p:nvSpPr>
        <p:spPr>
          <a:xfrm>
            <a:off x="914400" y="3794760"/>
            <a:ext cx="10360152" cy="502920"/>
          </a:xfrm>
          <a:prstGeom prst="rect">
            <a:avLst/>
          </a:prstGeom>
          <a:noFill/>
          <a:ln/>
        </p:spPr>
        <p:txBody>
          <a:bodyPr wrap="square" lIns="0" tIns="0" rIns="0" bIns="0" rtlCol="0" anchor="ctr"/>
          <a:lstStyle/>
          <a:p>
            <a:pPr algn="ctr" indent="0" marL="0">
              <a:buNone/>
            </a:pPr>
            <a:r>
              <a:rPr lang="en-US" sz="1800" b="1" i="1" dirty="0">
                <a:solidFill>
                  <a:srgbClr val="E7ECFF"/>
                </a:solidFill>
                <a:latin typeface="Calibri" pitchFamily="34" charset="0"/>
                <a:ea typeface="Calibri" pitchFamily="34" charset="-122"/>
                <a:cs typeface="Calibri" pitchFamily="34" charset="-120"/>
              </a:rPr>
              <a:t>Report it once. </a:t>
            </a:r>
            <a:pPr algn="ctr" indent="0" marL="0">
              <a:buNone/>
            </a:pPr>
            <a:r>
              <a:rPr lang="en-US" sz="1800" b="1" i="1" dirty="0">
                <a:solidFill>
                  <a:srgbClr val="5B7BFF"/>
                </a:solidFill>
                <a:latin typeface="Calibri" pitchFamily="34" charset="0"/>
                <a:ea typeface="Calibri" pitchFamily="34" charset="-122"/>
                <a:cs typeface="Calibri" pitchFamily="34" charset="-120"/>
              </a:rPr>
              <a:t>Track it live. </a:t>
            </a:r>
            <a:pPr algn="ctr" indent="0" marL="0">
              <a:buNone/>
            </a:pPr>
            <a:r>
              <a:rPr lang="en-US" sz="1800" b="1" i="1" dirty="0">
                <a:solidFill>
                  <a:srgbClr val="34D399"/>
                </a:solidFill>
                <a:latin typeface="Calibri" pitchFamily="34" charset="0"/>
                <a:ea typeface="Calibri" pitchFamily="34" charset="-122"/>
                <a:cs typeface="Calibri" pitchFamily="34" charset="-120"/>
              </a:rPr>
              <a:t>Hold the city accountable.</a:t>
            </a:r>
            <a:endParaRPr lang="en-US" sz="1800" dirty="0"/>
          </a:p>
        </p:txBody>
      </p:sp>
      <p:sp>
        <p:nvSpPr>
          <p:cNvPr id="9" name="Shape 7"/>
          <p:cNvSpPr/>
          <p:nvPr/>
        </p:nvSpPr>
        <p:spPr>
          <a:xfrm>
            <a:off x="3127248" y="4892040"/>
            <a:ext cx="5943600" cy="960120"/>
          </a:xfrm>
          <a:prstGeom prst="roundRect">
            <a:avLst>
              <a:gd name="adj" fmla="val 11429"/>
            </a:avLst>
          </a:prstGeom>
          <a:solidFill>
            <a:srgbClr val="141A33"/>
          </a:solidFill>
          <a:ln w="15875">
            <a:solidFill>
              <a:srgbClr val="2C3560"/>
            </a:solidFill>
            <a:prstDash val="solid"/>
          </a:ln>
        </p:spPr>
      </p:sp>
      <p:sp>
        <p:nvSpPr>
          <p:cNvPr id="10" name="Text 8"/>
          <p:cNvSpPr/>
          <p:nvPr/>
        </p:nvSpPr>
        <p:spPr>
          <a:xfrm>
            <a:off x="3127248" y="5029200"/>
            <a:ext cx="5943600" cy="384048"/>
          </a:xfrm>
          <a:prstGeom prst="rect">
            <a:avLst/>
          </a:prstGeom>
          <a:noFill/>
          <a:ln/>
        </p:spPr>
        <p:txBody>
          <a:bodyPr wrap="square" lIns="0" tIns="0" rIns="0" bIns="0" rtlCol="0" anchor="ctr"/>
          <a:lstStyle/>
          <a:p>
            <a:pPr algn="ctr" indent="0" marL="0">
              <a:buNone/>
            </a:pPr>
            <a:r>
              <a:rPr lang="en-US" sz="1500" b="1" dirty="0">
                <a:solidFill>
                  <a:srgbClr val="E7ECFF"/>
                </a:solidFill>
                <a:latin typeface="Calibri" pitchFamily="34" charset="0"/>
                <a:ea typeface="Calibri" pitchFamily="34" charset="-122"/>
                <a:cs typeface="Calibri" pitchFamily="34" charset="-120"/>
              </a:rPr>
              <a:t>Team HackInMotion  ·  RICR-HIM-1041</a:t>
            </a:r>
            <a:endParaRPr lang="en-US" sz="1500" dirty="0"/>
          </a:p>
        </p:txBody>
      </p:sp>
      <p:sp>
        <p:nvSpPr>
          <p:cNvPr id="11" name="Text 9"/>
          <p:cNvSpPr/>
          <p:nvPr/>
        </p:nvSpPr>
        <p:spPr>
          <a:xfrm>
            <a:off x="3127248" y="5413248"/>
            <a:ext cx="5943600" cy="329184"/>
          </a:xfrm>
          <a:prstGeom prst="rect">
            <a:avLst/>
          </a:prstGeom>
          <a:noFill/>
          <a:ln/>
        </p:spPr>
        <p:txBody>
          <a:bodyPr wrap="square" lIns="0" tIns="0" rIns="0" bIns="0" rtlCol="0" anchor="ctr"/>
          <a:lstStyle/>
          <a:p>
            <a:pPr algn="ctr" indent="0" marL="0">
              <a:buNone/>
            </a:pPr>
            <a:r>
              <a:rPr lang="en-US" sz="1200" dirty="0">
                <a:solidFill>
                  <a:srgbClr val="9FA8D6"/>
                </a:solidFill>
                <a:latin typeface="Calibri" pitchFamily="34" charset="0"/>
                <a:ea typeface="Calibri" pitchFamily="34" charset="-122"/>
                <a:cs typeface="Calibri" pitchFamily="34" charset="-120"/>
              </a:rPr>
              <a:t>github.com/Nipurnbandi/HackInMotion-RICR-HIM-1041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Civic issues fall through the cracks</a:t>
            </a:r>
            <a:endParaRPr lang="en-US" sz="3400" dirty="0"/>
          </a:p>
        </p:txBody>
      </p:sp>
      <p:sp>
        <p:nvSpPr>
          <p:cNvPr id="3" name="Text 1"/>
          <p:cNvSpPr/>
          <p:nvPr/>
        </p:nvSpPr>
        <p:spPr>
          <a:xfrm>
            <a:off x="548640" y="1234440"/>
            <a:ext cx="5577840" cy="2377440"/>
          </a:xfrm>
          <a:prstGeom prst="rect">
            <a:avLst/>
          </a:prstGeom>
          <a:noFill/>
          <a:ln/>
        </p:spPr>
        <p:txBody>
          <a:bodyPr wrap="square" lIns="0" tIns="0" rIns="0" bIns="0" rtlCol="0" anchor="ctr"/>
          <a:lstStyle/>
          <a:p>
            <a:pPr indent="0" marL="0">
              <a:lnSpc>
                <a:spcPts val="2600"/>
              </a:lnSpc>
              <a:buNone/>
            </a:pPr>
            <a:r>
              <a:rPr lang="en-US" sz="1700" dirty="0">
                <a:solidFill>
                  <a:srgbClr val="9FA8D6"/>
                </a:solidFill>
                <a:latin typeface="Calibri" pitchFamily="34" charset="0"/>
                <a:ea typeface="Calibri" pitchFamily="34" charset="-122"/>
                <a:cs typeface="Calibri" pitchFamily="34" charset="-120"/>
              </a:rPr>
              <a:t>A pothole gets reported fifteen times — or not at all. Complaints vanish into phone lines and paper registers. Citizens never learn what happened, departments drown in duplicates, and nobody can see which part of the city government actually delivers.</a:t>
            </a:r>
            <a:endParaRPr lang="en-US" sz="1700" dirty="0"/>
          </a:p>
        </p:txBody>
      </p:sp>
      <p:sp>
        <p:nvSpPr>
          <p:cNvPr id="4" name="Text 2"/>
          <p:cNvSpPr/>
          <p:nvPr/>
        </p:nvSpPr>
        <p:spPr>
          <a:xfrm>
            <a:off x="548640" y="3749040"/>
            <a:ext cx="5577840" cy="1097280"/>
          </a:xfrm>
          <a:prstGeom prst="rect">
            <a:avLst/>
          </a:prstGeom>
          <a:noFill/>
          <a:ln/>
        </p:spPr>
        <p:txBody>
          <a:bodyPr wrap="square" lIns="0" tIns="0" rIns="0" bIns="0" rtlCol="0" anchor="ctr"/>
          <a:lstStyle/>
          <a:p>
            <a:pPr indent="0" marL="0">
              <a:lnSpc>
                <a:spcPts val="2600"/>
              </a:lnSpc>
              <a:buNone/>
            </a:pPr>
            <a:r>
              <a:rPr lang="en-US" sz="1700" b="1" dirty="0">
                <a:solidFill>
                  <a:srgbClr val="E7ECFF"/>
                </a:solidFill>
                <a:latin typeface="Calibri" pitchFamily="34" charset="0"/>
                <a:ea typeface="Calibri" pitchFamily="34" charset="-122"/>
                <a:cs typeface="Calibri" pitchFamily="34" charset="-120"/>
              </a:rPr>
              <a:t>What a city needs:  </a:t>
            </a:r>
            <a:pPr indent="0" marL="0">
              <a:lnSpc>
                <a:spcPts val="2600"/>
              </a:lnSpc>
              <a:buNone/>
            </a:pPr>
            <a:r>
              <a:rPr lang="en-US" sz="1700" dirty="0">
                <a:solidFill>
                  <a:srgbClr val="38BDF8"/>
                </a:solidFill>
                <a:latin typeface="Calibri" pitchFamily="34" charset="0"/>
                <a:ea typeface="Calibri" pitchFamily="34" charset="-122"/>
                <a:cs typeface="Calibri" pitchFamily="34" charset="-120"/>
              </a:rPr>
              <a:t>one record per problem, visible progress, and accountability that is public by default.</a:t>
            </a:r>
            <a:endParaRPr lang="en-US" sz="1700" dirty="0"/>
          </a:p>
        </p:txBody>
      </p:sp>
      <p:sp>
        <p:nvSpPr>
          <p:cNvPr id="5" name="Shape 3"/>
          <p:cNvSpPr/>
          <p:nvPr/>
        </p:nvSpPr>
        <p:spPr>
          <a:xfrm>
            <a:off x="6492240" y="1234440"/>
            <a:ext cx="5120640" cy="1554480"/>
          </a:xfrm>
          <a:prstGeom prst="roundRect">
            <a:avLst>
              <a:gd name="adj" fmla="val 7059"/>
            </a:avLst>
          </a:prstGeom>
          <a:solidFill>
            <a:srgbClr val="141A33"/>
          </a:solidFill>
          <a:ln w="15875">
            <a:solidFill>
              <a:srgbClr val="FF7B72"/>
            </a:solidFill>
            <a:prstDash val="solid"/>
          </a:ln>
        </p:spPr>
      </p:sp>
      <p:sp>
        <p:nvSpPr>
          <p:cNvPr id="6" name="Text 4"/>
          <p:cNvSpPr/>
          <p:nvPr/>
        </p:nvSpPr>
        <p:spPr>
          <a:xfrm>
            <a:off x="6720840" y="1463040"/>
            <a:ext cx="1417320" cy="1097280"/>
          </a:xfrm>
          <a:prstGeom prst="rect">
            <a:avLst/>
          </a:prstGeom>
          <a:noFill/>
          <a:ln/>
        </p:spPr>
        <p:txBody>
          <a:bodyPr wrap="square" lIns="0" tIns="0" rIns="0" bIns="0" rtlCol="0" anchor="ctr"/>
          <a:lstStyle/>
          <a:p>
            <a:pPr algn="ctr" indent="0" marL="0">
              <a:buNone/>
            </a:pPr>
            <a:r>
              <a:rPr lang="en-US" sz="4600" b="1" dirty="0">
                <a:solidFill>
                  <a:srgbClr val="FF7B72"/>
                </a:solidFill>
                <a:latin typeface="Calibri" pitchFamily="34" charset="0"/>
                <a:ea typeface="Calibri" pitchFamily="34" charset="-122"/>
                <a:cs typeface="Calibri" pitchFamily="34" charset="-120"/>
              </a:rPr>
              <a:t>15×</a:t>
            </a:r>
            <a:endParaRPr lang="en-US" sz="4600" dirty="0"/>
          </a:p>
        </p:txBody>
      </p:sp>
      <p:sp>
        <p:nvSpPr>
          <p:cNvPr id="7" name="Text 5"/>
          <p:cNvSpPr/>
          <p:nvPr/>
        </p:nvSpPr>
        <p:spPr>
          <a:xfrm>
            <a:off x="8229600" y="1435608"/>
            <a:ext cx="3246120" cy="1188720"/>
          </a:xfrm>
          <a:prstGeom prst="rect">
            <a:avLst/>
          </a:prstGeom>
          <a:noFill/>
          <a:ln/>
        </p:spPr>
        <p:txBody>
          <a:bodyPr wrap="square" lIns="0" tIns="0" rIns="0" bIns="0" rtlCol="0" anchor="ctr"/>
          <a:lstStyle/>
          <a:p>
            <a:pPr indent="0" marL="0">
              <a:lnSpc>
                <a:spcPts val="1900"/>
              </a:lnSpc>
              <a:buNone/>
            </a:pPr>
            <a:r>
              <a:rPr lang="en-US" sz="1350" dirty="0">
                <a:solidFill>
                  <a:srgbClr val="E7ECFF"/>
                </a:solidFill>
                <a:latin typeface="Calibri" pitchFamily="34" charset="0"/>
                <a:ea typeface="Calibri" pitchFamily="34" charset="-122"/>
                <a:cs typeface="Calibri" pitchFamily="34" charset="-120"/>
              </a:rPr>
              <a:t>the same pothole reported again and again — every duplicate is queue noise</a:t>
            </a:r>
            <a:endParaRPr lang="en-US" sz="1350" dirty="0"/>
          </a:p>
        </p:txBody>
      </p:sp>
      <p:sp>
        <p:nvSpPr>
          <p:cNvPr id="8" name="Shape 6"/>
          <p:cNvSpPr/>
          <p:nvPr/>
        </p:nvSpPr>
        <p:spPr>
          <a:xfrm>
            <a:off x="6492240" y="3017520"/>
            <a:ext cx="5120640" cy="1554480"/>
          </a:xfrm>
          <a:prstGeom prst="roundRect">
            <a:avLst>
              <a:gd name="adj" fmla="val 7059"/>
            </a:avLst>
          </a:prstGeom>
          <a:solidFill>
            <a:srgbClr val="141A33"/>
          </a:solidFill>
          <a:ln w="15875">
            <a:solidFill>
              <a:srgbClr val="C98500"/>
            </a:solidFill>
            <a:prstDash val="solid"/>
          </a:ln>
        </p:spPr>
      </p:sp>
      <p:sp>
        <p:nvSpPr>
          <p:cNvPr id="9" name="Text 7"/>
          <p:cNvSpPr/>
          <p:nvPr/>
        </p:nvSpPr>
        <p:spPr>
          <a:xfrm>
            <a:off x="6720840" y="3246120"/>
            <a:ext cx="1417320" cy="1097280"/>
          </a:xfrm>
          <a:prstGeom prst="rect">
            <a:avLst/>
          </a:prstGeom>
          <a:noFill/>
          <a:ln/>
        </p:spPr>
        <p:txBody>
          <a:bodyPr wrap="square" lIns="0" tIns="0" rIns="0" bIns="0" rtlCol="0" anchor="ctr"/>
          <a:lstStyle/>
          <a:p>
            <a:pPr algn="ctr" indent="0" marL="0">
              <a:buNone/>
            </a:pPr>
            <a:r>
              <a:rPr lang="en-US" sz="4600" b="1" dirty="0">
                <a:solidFill>
                  <a:srgbClr val="C98500"/>
                </a:solidFill>
                <a:latin typeface="Calibri" pitchFamily="34" charset="0"/>
                <a:ea typeface="Calibri" pitchFamily="34" charset="-122"/>
                <a:cs typeface="Calibri" pitchFamily="34" charset="-120"/>
              </a:rPr>
              <a:t>0</a:t>
            </a:r>
            <a:endParaRPr lang="en-US" sz="4600" dirty="0"/>
          </a:p>
        </p:txBody>
      </p:sp>
      <p:sp>
        <p:nvSpPr>
          <p:cNvPr id="10" name="Text 8"/>
          <p:cNvSpPr/>
          <p:nvPr/>
        </p:nvSpPr>
        <p:spPr>
          <a:xfrm>
            <a:off x="8229600" y="3218688"/>
            <a:ext cx="3246120" cy="1188720"/>
          </a:xfrm>
          <a:prstGeom prst="rect">
            <a:avLst/>
          </a:prstGeom>
          <a:noFill/>
          <a:ln/>
        </p:spPr>
        <p:txBody>
          <a:bodyPr wrap="square" lIns="0" tIns="0" rIns="0" bIns="0" rtlCol="0" anchor="ctr"/>
          <a:lstStyle/>
          <a:p>
            <a:pPr indent="0" marL="0">
              <a:lnSpc>
                <a:spcPts val="1900"/>
              </a:lnSpc>
              <a:buNone/>
            </a:pPr>
            <a:r>
              <a:rPr lang="en-US" sz="1350" dirty="0">
                <a:solidFill>
                  <a:srgbClr val="E7ECFF"/>
                </a:solidFill>
                <a:latin typeface="Calibri" pitchFamily="34" charset="0"/>
                <a:ea typeface="Calibri" pitchFamily="34" charset="-122"/>
                <a:cs typeface="Calibri" pitchFamily="34" charset="-120"/>
              </a:rPr>
              <a:t>visibility for the reporter — no tracking ID, no status, no closure</a:t>
            </a:r>
            <a:endParaRPr lang="en-US" sz="1350" dirty="0"/>
          </a:p>
        </p:txBody>
      </p:sp>
      <p:sp>
        <p:nvSpPr>
          <p:cNvPr id="11" name="Shape 9"/>
          <p:cNvSpPr/>
          <p:nvPr/>
        </p:nvSpPr>
        <p:spPr>
          <a:xfrm>
            <a:off x="6492240" y="4800600"/>
            <a:ext cx="5120640" cy="1554480"/>
          </a:xfrm>
          <a:prstGeom prst="roundRect">
            <a:avLst>
              <a:gd name="adj" fmla="val 7059"/>
            </a:avLst>
          </a:prstGeom>
          <a:solidFill>
            <a:srgbClr val="141A33"/>
          </a:solidFill>
          <a:ln w="15875">
            <a:solidFill>
              <a:srgbClr val="D55181"/>
            </a:solidFill>
            <a:prstDash val="solid"/>
          </a:ln>
        </p:spPr>
      </p:sp>
      <p:sp>
        <p:nvSpPr>
          <p:cNvPr id="12" name="Text 10"/>
          <p:cNvSpPr/>
          <p:nvPr/>
        </p:nvSpPr>
        <p:spPr>
          <a:xfrm>
            <a:off x="6720840" y="5029200"/>
            <a:ext cx="1417320" cy="1097280"/>
          </a:xfrm>
          <a:prstGeom prst="rect">
            <a:avLst/>
          </a:prstGeom>
          <a:noFill/>
          <a:ln/>
        </p:spPr>
        <p:txBody>
          <a:bodyPr wrap="square" lIns="0" tIns="0" rIns="0" bIns="0" rtlCol="0" anchor="ctr"/>
          <a:lstStyle/>
          <a:p>
            <a:pPr algn="ctr" indent="0" marL="0">
              <a:buNone/>
            </a:pPr>
            <a:r>
              <a:rPr lang="en-US" sz="4600" b="1" dirty="0">
                <a:solidFill>
                  <a:srgbClr val="D55181"/>
                </a:solidFill>
                <a:latin typeface="Calibri" pitchFamily="34" charset="0"/>
                <a:ea typeface="Calibri" pitchFamily="34" charset="-122"/>
                <a:cs typeface="Calibri" pitchFamily="34" charset="-120"/>
              </a:rPr>
              <a:t>?</a:t>
            </a:r>
            <a:endParaRPr lang="en-US" sz="4600" dirty="0"/>
          </a:p>
        </p:txBody>
      </p:sp>
      <p:sp>
        <p:nvSpPr>
          <p:cNvPr id="13" name="Text 11"/>
          <p:cNvSpPr/>
          <p:nvPr/>
        </p:nvSpPr>
        <p:spPr>
          <a:xfrm>
            <a:off x="8229600" y="5001768"/>
            <a:ext cx="3246120" cy="1188720"/>
          </a:xfrm>
          <a:prstGeom prst="rect">
            <a:avLst/>
          </a:prstGeom>
          <a:noFill/>
          <a:ln/>
        </p:spPr>
        <p:txBody>
          <a:bodyPr wrap="square" lIns="0" tIns="0" rIns="0" bIns="0" rtlCol="0" anchor="ctr"/>
          <a:lstStyle/>
          <a:p>
            <a:pPr indent="0" marL="0">
              <a:lnSpc>
                <a:spcPts val="1900"/>
              </a:lnSpc>
              <a:buNone/>
            </a:pPr>
            <a:r>
              <a:rPr lang="en-US" sz="1350" dirty="0">
                <a:solidFill>
                  <a:srgbClr val="E7ECFF"/>
                </a:solidFill>
                <a:latin typeface="Calibri" pitchFamily="34" charset="0"/>
                <a:ea typeface="Calibri" pitchFamily="34" charset="-122"/>
                <a:cs typeface="Calibri" pitchFamily="34" charset="-120"/>
              </a:rPr>
              <a:t>public accountability — no one can compare how departments perform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One platform, three faces</a:t>
            </a:r>
            <a:endParaRPr lang="en-US" sz="3400" dirty="0"/>
          </a:p>
        </p:txBody>
      </p:sp>
      <p:sp>
        <p:nvSpPr>
          <p:cNvPr id="3" name="Shape 1"/>
          <p:cNvSpPr/>
          <p:nvPr/>
        </p:nvSpPr>
        <p:spPr>
          <a:xfrm>
            <a:off x="548640" y="1325880"/>
            <a:ext cx="3611880" cy="4892040"/>
          </a:xfrm>
          <a:prstGeom prst="roundRect">
            <a:avLst>
              <a:gd name="adj" fmla="val 3038"/>
            </a:avLst>
          </a:prstGeom>
          <a:solidFill>
            <a:srgbClr val="141A33"/>
          </a:solidFill>
          <a:ln w="15875">
            <a:solidFill>
              <a:srgbClr val="38BDF8"/>
            </a:solidFill>
            <a:prstDash val="solid"/>
          </a:ln>
        </p:spPr>
      </p:sp>
      <p:sp>
        <p:nvSpPr>
          <p:cNvPr id="4" name="Shape 2"/>
          <p:cNvSpPr/>
          <p:nvPr/>
        </p:nvSpPr>
        <p:spPr>
          <a:xfrm>
            <a:off x="868680" y="1691640"/>
            <a:ext cx="566928" cy="566928"/>
          </a:xfrm>
          <a:prstGeom prst="ellipse">
            <a:avLst/>
          </a:prstGeom>
          <a:solidFill>
            <a:srgbClr val="38BDF8">
              <a:alpha val="22000"/>
            </a:srgbClr>
          </a:solidFill>
          <a:ln w="15875">
            <a:solidFill>
              <a:srgbClr val="38BDF8"/>
            </a:solidFill>
            <a:prstDash val="solid"/>
          </a:ln>
        </p:spPr>
      </p:sp>
      <p:sp>
        <p:nvSpPr>
          <p:cNvPr id="5" name="Text 3"/>
          <p:cNvSpPr/>
          <p:nvPr/>
        </p:nvSpPr>
        <p:spPr>
          <a:xfrm>
            <a:off x="786384" y="16733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600200" y="1700784"/>
            <a:ext cx="2514600" cy="347472"/>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Citizen Portal</a:t>
            </a:r>
            <a:endParaRPr lang="en-US" sz="1550" dirty="0"/>
          </a:p>
        </p:txBody>
      </p:sp>
      <p:sp>
        <p:nvSpPr>
          <p:cNvPr id="7" name="Text 5"/>
          <p:cNvSpPr/>
          <p:nvPr/>
        </p:nvSpPr>
        <p:spPr>
          <a:xfrm>
            <a:off x="1600200" y="2048256"/>
            <a:ext cx="2514600" cy="566928"/>
          </a:xfrm>
          <a:prstGeom prst="rect">
            <a:avLst/>
          </a:prstGeom>
          <a:noFill/>
          <a:ln/>
        </p:spPr>
        <p:txBody>
          <a:bodyPr wrap="square" lIns="0" tIns="0" rIns="0" bIns="0" rtlCol="0" anchor="ctr"/>
          <a:lstStyle/>
          <a:p>
            <a:pPr indent="0" marL="0">
              <a:lnSpc>
                <a:spcPts val="1300"/>
              </a:lnSpc>
              <a:buNone/>
            </a:pPr>
            <a:r>
              <a:rPr lang="en-US" sz="1050" i="1" dirty="0">
                <a:solidFill>
                  <a:srgbClr val="38BDF8"/>
                </a:solidFill>
                <a:latin typeface="Calibri" pitchFamily="34" charset="0"/>
                <a:ea typeface="Calibri" pitchFamily="34" charset="-122"/>
                <a:cs typeface="Calibri" pitchFamily="34" charset="-120"/>
              </a:rPr>
              <a:t>light · phone-first · English + हिन्दी</a:t>
            </a:r>
            <a:endParaRPr lang="en-US" sz="1050" dirty="0"/>
          </a:p>
        </p:txBody>
      </p:sp>
      <p:sp>
        <p:nvSpPr>
          <p:cNvPr id="8" name="Text 6"/>
          <p:cNvSpPr/>
          <p:nvPr/>
        </p:nvSpPr>
        <p:spPr>
          <a:xfrm>
            <a:off x="868680" y="2697480"/>
            <a:ext cx="3063240" cy="32918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5-step report wizard: pin on map, category, photo, description</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Live city map — see &amp; upvote what neighbours already reported</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Track every report; confirm the fix or reopen the case</a:t>
            </a:r>
            <a:endParaRPr lang="en-US" sz="1350" dirty="0"/>
          </a:p>
        </p:txBody>
      </p:sp>
      <p:sp>
        <p:nvSpPr>
          <p:cNvPr id="9" name="Shape 7"/>
          <p:cNvSpPr/>
          <p:nvPr/>
        </p:nvSpPr>
        <p:spPr>
          <a:xfrm>
            <a:off x="4434840" y="1325880"/>
            <a:ext cx="3611880" cy="4892040"/>
          </a:xfrm>
          <a:prstGeom prst="roundRect">
            <a:avLst>
              <a:gd name="adj" fmla="val 3038"/>
            </a:avLst>
          </a:prstGeom>
          <a:solidFill>
            <a:srgbClr val="141A33"/>
          </a:solidFill>
          <a:ln w="15875">
            <a:solidFill>
              <a:srgbClr val="5B7BFF"/>
            </a:solidFill>
            <a:prstDash val="solid"/>
          </a:ln>
        </p:spPr>
      </p:sp>
      <p:sp>
        <p:nvSpPr>
          <p:cNvPr id="10" name="Shape 8"/>
          <p:cNvSpPr/>
          <p:nvPr/>
        </p:nvSpPr>
        <p:spPr>
          <a:xfrm>
            <a:off x="4754880" y="1691640"/>
            <a:ext cx="566928" cy="566928"/>
          </a:xfrm>
          <a:prstGeom prst="ellipse">
            <a:avLst/>
          </a:prstGeom>
          <a:solidFill>
            <a:srgbClr val="5B7BFF">
              <a:alpha val="22000"/>
            </a:srgbClr>
          </a:solidFill>
          <a:ln w="15875">
            <a:solidFill>
              <a:srgbClr val="5B7BFF"/>
            </a:solidFill>
            <a:prstDash val="solid"/>
          </a:ln>
        </p:spPr>
      </p:sp>
      <p:sp>
        <p:nvSpPr>
          <p:cNvPr id="11" name="Text 9"/>
          <p:cNvSpPr/>
          <p:nvPr/>
        </p:nvSpPr>
        <p:spPr>
          <a:xfrm>
            <a:off x="4672584" y="16733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5486400" y="1700784"/>
            <a:ext cx="2514600" cy="347472"/>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Admin Command Center</a:t>
            </a:r>
            <a:endParaRPr lang="en-US" sz="1550" dirty="0"/>
          </a:p>
        </p:txBody>
      </p:sp>
      <p:sp>
        <p:nvSpPr>
          <p:cNvPr id="13" name="Text 11"/>
          <p:cNvSpPr/>
          <p:nvPr/>
        </p:nvSpPr>
        <p:spPr>
          <a:xfrm>
            <a:off x="5486400" y="2048256"/>
            <a:ext cx="2514600" cy="566928"/>
          </a:xfrm>
          <a:prstGeom prst="rect">
            <a:avLst/>
          </a:prstGeom>
          <a:noFill/>
          <a:ln/>
        </p:spPr>
        <p:txBody>
          <a:bodyPr wrap="square" lIns="0" tIns="0" rIns="0" bIns="0" rtlCol="0" anchor="ctr"/>
          <a:lstStyle/>
          <a:p>
            <a:pPr indent="0" marL="0">
              <a:lnSpc>
                <a:spcPts val="1300"/>
              </a:lnSpc>
              <a:buNone/>
            </a:pPr>
            <a:r>
              <a:rPr lang="en-US" sz="1050" i="1" dirty="0">
                <a:solidFill>
                  <a:srgbClr val="5B7BFF"/>
                </a:solidFill>
                <a:latin typeface="Calibri" pitchFamily="34" charset="0"/>
                <a:ea typeface="Calibri" pitchFamily="34" charset="-122"/>
                <a:cs typeface="Calibri" pitchFamily="34" charset="-120"/>
              </a:rPr>
              <a:t>dark glass theme · data-dense</a:t>
            </a:r>
            <a:endParaRPr lang="en-US" sz="1050" dirty="0"/>
          </a:p>
        </p:txBody>
      </p:sp>
      <p:sp>
        <p:nvSpPr>
          <p:cNvPr id="14" name="Text 12"/>
          <p:cNvSpPr/>
          <p:nvPr/>
        </p:nvSpPr>
        <p:spPr>
          <a:xfrm>
            <a:off x="4754880" y="2697480"/>
            <a:ext cx="3063240" cy="32918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Priority work queue — one case per real-world problem</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Live map, real-data analytics, department inbox</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Resolution notes + proof photos, full audit trail</a:t>
            </a:r>
            <a:endParaRPr lang="en-US" sz="1350" dirty="0"/>
          </a:p>
        </p:txBody>
      </p:sp>
      <p:sp>
        <p:nvSpPr>
          <p:cNvPr id="15" name="Shape 13"/>
          <p:cNvSpPr/>
          <p:nvPr/>
        </p:nvSpPr>
        <p:spPr>
          <a:xfrm>
            <a:off x="8321040" y="1325880"/>
            <a:ext cx="3611880" cy="4892040"/>
          </a:xfrm>
          <a:prstGeom prst="roundRect">
            <a:avLst>
              <a:gd name="adj" fmla="val 3038"/>
            </a:avLst>
          </a:prstGeom>
          <a:solidFill>
            <a:srgbClr val="141A33"/>
          </a:solidFill>
          <a:ln w="15875">
            <a:solidFill>
              <a:srgbClr val="34D399"/>
            </a:solidFill>
            <a:prstDash val="solid"/>
          </a:ln>
        </p:spPr>
      </p:sp>
      <p:sp>
        <p:nvSpPr>
          <p:cNvPr id="16" name="Shape 14"/>
          <p:cNvSpPr/>
          <p:nvPr/>
        </p:nvSpPr>
        <p:spPr>
          <a:xfrm>
            <a:off x="8641080" y="1691640"/>
            <a:ext cx="566928" cy="566928"/>
          </a:xfrm>
          <a:prstGeom prst="ellipse">
            <a:avLst/>
          </a:prstGeom>
          <a:solidFill>
            <a:srgbClr val="34D399">
              <a:alpha val="22000"/>
            </a:srgbClr>
          </a:solidFill>
          <a:ln w="15875">
            <a:solidFill>
              <a:srgbClr val="34D399"/>
            </a:solidFill>
            <a:prstDash val="solid"/>
          </a:ln>
        </p:spPr>
      </p:sp>
      <p:sp>
        <p:nvSpPr>
          <p:cNvPr id="17" name="Text 15"/>
          <p:cNvSpPr/>
          <p:nvPr/>
        </p:nvSpPr>
        <p:spPr>
          <a:xfrm>
            <a:off x="8558784" y="16733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372600" y="1700784"/>
            <a:ext cx="2514600" cy="347472"/>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Public Report Card</a:t>
            </a:r>
            <a:endParaRPr lang="en-US" sz="1550" dirty="0"/>
          </a:p>
        </p:txBody>
      </p:sp>
      <p:sp>
        <p:nvSpPr>
          <p:cNvPr id="19" name="Text 17"/>
          <p:cNvSpPr/>
          <p:nvPr/>
        </p:nvSpPr>
        <p:spPr>
          <a:xfrm>
            <a:off x="9372600" y="2048256"/>
            <a:ext cx="2514600" cy="566928"/>
          </a:xfrm>
          <a:prstGeom prst="rect">
            <a:avLst/>
          </a:prstGeom>
          <a:noFill/>
          <a:ln/>
        </p:spPr>
        <p:txBody>
          <a:bodyPr wrap="square" lIns="0" tIns="0" rIns="0" bIns="0" rtlCol="0" anchor="ctr"/>
          <a:lstStyle/>
          <a:p>
            <a:pPr indent="0" marL="0">
              <a:lnSpc>
                <a:spcPts val="1300"/>
              </a:lnSpc>
              <a:buNone/>
            </a:pPr>
            <a:r>
              <a:rPr lang="en-US" sz="1050" i="1" dirty="0">
                <a:solidFill>
                  <a:srgbClr val="34D399"/>
                </a:solidFill>
                <a:latin typeface="Calibri" pitchFamily="34" charset="0"/>
                <a:ea typeface="Calibri" pitchFamily="34" charset="-122"/>
                <a:cs typeface="Calibri" pitchFamily="34" charset="-120"/>
              </a:rPr>
              <a:t>/transparency · no login required</a:t>
            </a:r>
            <a:endParaRPr lang="en-US" sz="1050" dirty="0"/>
          </a:p>
        </p:txBody>
      </p:sp>
      <p:sp>
        <p:nvSpPr>
          <p:cNvPr id="20" name="Text 18"/>
          <p:cNvSpPr/>
          <p:nvPr/>
        </p:nvSpPr>
        <p:spPr>
          <a:xfrm>
            <a:off x="8641080" y="2697480"/>
            <a:ext cx="3063240" cy="32918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Every department scored 0–100, graded A+ to D</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Resolution rate + within-SLA rate + speed</a:t>
            </a:r>
            <a:endParaRPr lang="en-US" sz="1350" dirty="0"/>
          </a:p>
          <a:p>
            <a:pPr marL="342900" indent="-342900">
              <a:lnSpc>
                <a:spcPts val="1900"/>
              </a:lnSpc>
              <a:spcAft>
                <a:spcPts val="1000"/>
              </a:spcAft>
              <a:buSzPct val="100000"/>
              <a:buChar char="•"/>
            </a:pPr>
            <a:r>
              <a:rPr lang="en-US" sz="1350" dirty="0">
                <a:solidFill>
                  <a:srgbClr val="9FA8D6"/>
                </a:solidFill>
                <a:latin typeface="Calibri" pitchFamily="34" charset="0"/>
                <a:ea typeface="Calibri" pitchFamily="34" charset="-122"/>
                <a:cs typeface="Calibri" pitchFamily="34" charset="-120"/>
              </a:rPr>
              <a:t>Computed live from the database — never curated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000" b="1" dirty="0">
                <a:solidFill>
                  <a:srgbClr val="E7ECFF"/>
                </a:solidFill>
                <a:latin typeface="Calibri" pitchFamily="34" charset="0"/>
                <a:ea typeface="Calibri" pitchFamily="34" charset="-122"/>
                <a:cs typeface="Calibri" pitchFamily="34" charset="-120"/>
              </a:rPr>
              <a:t>Architecture — every box is tested code</a:t>
            </a:r>
            <a:endParaRPr lang="en-US" sz="3000" dirty="0"/>
          </a:p>
        </p:txBody>
      </p:sp>
      <p:pic>
        <p:nvPicPr>
          <p:cNvPr id="3" name="Image 0" descr="C:/Users/nipur/OneDrive/Desktop/hack/architecture-diagram.png">    </p:cNvPr>
          <p:cNvPicPr>
            <a:picLocks noChangeAspect="1"/>
          </p:cNvPicPr>
          <p:nvPr/>
        </p:nvPicPr>
        <p:blipFill>
          <a:blip r:embed="rId1"/>
          <a:stretch>
            <a:fillRect/>
          </a:stretch>
        </p:blipFill>
        <p:spPr>
          <a:xfrm>
            <a:off x="548640" y="960120"/>
            <a:ext cx="11091672" cy="5853125"/>
          </a:xfrm>
          <a:prstGeom prst="rect">
            <a:avLst/>
          </a:prstGeom>
        </p:spPr>
      </p:pic>
      <p:sp>
        <p:nvSpPr>
          <p:cNvPr id="4" name="Text 1"/>
          <p:cNvSpPr/>
          <p:nvPr/>
        </p:nvSpPr>
        <p:spPr>
          <a:xfrm>
            <a:off x="548640" y="6419088"/>
            <a:ext cx="11091672" cy="320040"/>
          </a:xfrm>
          <a:prstGeom prst="rect">
            <a:avLst/>
          </a:prstGeom>
          <a:noFill/>
          <a:ln/>
        </p:spPr>
        <p:txBody>
          <a:bodyPr wrap="square" lIns="0" tIns="0" rIns="0" bIns="0" rtlCol="0" anchor="ctr"/>
          <a:lstStyle/>
          <a:p>
            <a:pPr algn="ctr" indent="0" marL="0">
              <a:buNone/>
            </a:pPr>
            <a:r>
              <a:rPr lang="en-US" sz="1150" i="1" dirty="0">
                <a:solidFill>
                  <a:srgbClr val="9FA8D6"/>
                </a:solidFill>
                <a:latin typeface="Calibri" pitchFamily="34" charset="0"/>
                <a:ea typeface="Calibri" pitchFamily="34" charset="-122"/>
                <a:cs typeface="Calibri" pitchFamily="34" charset="-120"/>
              </a:rPr>
              <a:t>FastAPI · React 19 · PostgreSQL · Leaflet/OSM · Claude API — source: docs/architecture.mmd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Reporting an issue takes five taps</a:t>
            </a:r>
            <a:endParaRPr lang="en-US" sz="3400" dirty="0"/>
          </a:p>
        </p:txBody>
      </p:sp>
      <p:sp>
        <p:nvSpPr>
          <p:cNvPr id="3" name="Shape 1"/>
          <p:cNvSpPr/>
          <p:nvPr/>
        </p:nvSpPr>
        <p:spPr>
          <a:xfrm>
            <a:off x="457200" y="1371600"/>
            <a:ext cx="2084832" cy="1783080"/>
          </a:xfrm>
          <a:prstGeom prst="roundRect">
            <a:avLst>
              <a:gd name="adj" fmla="val 6154"/>
            </a:avLst>
          </a:prstGeom>
          <a:solidFill>
            <a:srgbClr val="141A33"/>
          </a:solidFill>
          <a:ln w="15875">
            <a:solidFill>
              <a:srgbClr val="2C3560"/>
            </a:solidFill>
            <a:prstDash val="solid"/>
          </a:ln>
        </p:spPr>
      </p:sp>
      <p:sp>
        <p:nvSpPr>
          <p:cNvPr id="4" name="Text 2"/>
          <p:cNvSpPr/>
          <p:nvPr/>
        </p:nvSpPr>
        <p:spPr>
          <a:xfrm>
            <a:off x="621792" y="1517904"/>
            <a:ext cx="457200" cy="411480"/>
          </a:xfrm>
          <a:prstGeom prst="rect">
            <a:avLst/>
          </a:prstGeom>
          <a:noFill/>
          <a:ln/>
        </p:spPr>
        <p:txBody>
          <a:bodyPr wrap="square" lIns="0" tIns="0" rIns="0" bIns="0" rtlCol="0" anchor="ctr"/>
          <a:lstStyle/>
          <a:p>
            <a:pPr indent="0" marL="0">
              <a:buNone/>
            </a:pPr>
            <a:r>
              <a:rPr lang="en-US" sz="2100" b="1" dirty="0">
                <a:solidFill>
                  <a:srgbClr val="5B7BFF"/>
                </a:solidFill>
                <a:latin typeface="Calibri" pitchFamily="34" charset="0"/>
                <a:ea typeface="Calibri" pitchFamily="34" charset="-122"/>
                <a:cs typeface="Calibri" pitchFamily="34" charset="-120"/>
              </a:rPr>
              <a:t>1</a:t>
            </a:r>
            <a:endParaRPr lang="en-US" sz="2100" dirty="0"/>
          </a:p>
        </p:txBody>
      </p:sp>
      <p:sp>
        <p:nvSpPr>
          <p:cNvPr id="5" name="Text 3"/>
          <p:cNvSpPr/>
          <p:nvPr/>
        </p:nvSpPr>
        <p:spPr>
          <a:xfrm>
            <a:off x="1024128" y="1481328"/>
            <a:ext cx="100584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621792" y="2121408"/>
            <a:ext cx="1828800" cy="365760"/>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Category</a:t>
            </a:r>
            <a:endParaRPr lang="en-US" sz="1550" dirty="0"/>
          </a:p>
        </p:txBody>
      </p:sp>
      <p:sp>
        <p:nvSpPr>
          <p:cNvPr id="7" name="Text 5"/>
          <p:cNvSpPr/>
          <p:nvPr/>
        </p:nvSpPr>
        <p:spPr>
          <a:xfrm>
            <a:off x="621792" y="2487168"/>
            <a:ext cx="1828800" cy="502920"/>
          </a:xfrm>
          <a:prstGeom prst="rect">
            <a:avLst/>
          </a:prstGeom>
          <a:noFill/>
          <a:ln/>
        </p:spPr>
        <p:txBody>
          <a:bodyPr wrap="square" lIns="0" tIns="0" rIns="0" bIns="0" rtlCol="0" anchor="ctr"/>
          <a:lstStyle/>
          <a:p>
            <a:pPr indent="0" marL="0">
              <a:buNone/>
            </a:pPr>
            <a:r>
              <a:rPr lang="en-US" sz="1150" dirty="0">
                <a:solidFill>
                  <a:srgbClr val="9FA8D6"/>
                </a:solidFill>
                <a:latin typeface="Calibri" pitchFamily="34" charset="0"/>
                <a:ea typeface="Calibri" pitchFamily="34" charset="-122"/>
                <a:cs typeface="Calibri" pitchFamily="34" charset="-120"/>
              </a:rPr>
              <a:t>7 civic types</a:t>
            </a:r>
            <a:endParaRPr lang="en-US" sz="1150" dirty="0"/>
          </a:p>
        </p:txBody>
      </p:sp>
      <p:sp>
        <p:nvSpPr>
          <p:cNvPr id="8" name="Text 6"/>
          <p:cNvSpPr/>
          <p:nvPr/>
        </p:nvSpPr>
        <p:spPr>
          <a:xfrm>
            <a:off x="2523744" y="1965960"/>
            <a:ext cx="310896" cy="457200"/>
          </a:xfrm>
          <a:prstGeom prst="rect">
            <a:avLst/>
          </a:prstGeom>
          <a:noFill/>
          <a:ln/>
        </p:spPr>
        <p:txBody>
          <a:bodyPr wrap="square" lIns="0" tIns="0" rIns="0" bIns="0" rtlCol="0" anchor="ctr"/>
          <a:lstStyle/>
          <a:p>
            <a:pPr algn="ctr" indent="0" marL="0">
              <a:buNone/>
            </a:pPr>
            <a:r>
              <a:rPr lang="en-US" sz="1900" dirty="0">
                <a:solidFill>
                  <a:srgbClr val="5B7BFF"/>
                </a:solidFill>
                <a:latin typeface="Calibri" pitchFamily="34" charset="0"/>
                <a:ea typeface="Calibri" pitchFamily="34" charset="-122"/>
                <a:cs typeface="Calibri" pitchFamily="34" charset="-120"/>
              </a:rPr>
              <a:t>→</a:t>
            </a:r>
            <a:endParaRPr lang="en-US" sz="1900" dirty="0"/>
          </a:p>
        </p:txBody>
      </p:sp>
      <p:sp>
        <p:nvSpPr>
          <p:cNvPr id="9" name="Shape 7"/>
          <p:cNvSpPr/>
          <p:nvPr/>
        </p:nvSpPr>
        <p:spPr>
          <a:xfrm>
            <a:off x="2816352" y="1371600"/>
            <a:ext cx="2084832" cy="1783080"/>
          </a:xfrm>
          <a:prstGeom prst="roundRect">
            <a:avLst>
              <a:gd name="adj" fmla="val 6154"/>
            </a:avLst>
          </a:prstGeom>
          <a:solidFill>
            <a:srgbClr val="141A33"/>
          </a:solidFill>
          <a:ln w="15875">
            <a:solidFill>
              <a:srgbClr val="2C3560"/>
            </a:solidFill>
            <a:prstDash val="solid"/>
          </a:ln>
        </p:spPr>
      </p:sp>
      <p:sp>
        <p:nvSpPr>
          <p:cNvPr id="10" name="Text 8"/>
          <p:cNvSpPr/>
          <p:nvPr/>
        </p:nvSpPr>
        <p:spPr>
          <a:xfrm>
            <a:off x="2980944" y="1517904"/>
            <a:ext cx="457200" cy="411480"/>
          </a:xfrm>
          <a:prstGeom prst="rect">
            <a:avLst/>
          </a:prstGeom>
          <a:noFill/>
          <a:ln/>
        </p:spPr>
        <p:txBody>
          <a:bodyPr wrap="square" lIns="0" tIns="0" rIns="0" bIns="0" rtlCol="0" anchor="ctr"/>
          <a:lstStyle/>
          <a:p>
            <a:pPr indent="0" marL="0">
              <a:buNone/>
            </a:pPr>
            <a:r>
              <a:rPr lang="en-US" sz="2100" b="1" dirty="0">
                <a:solidFill>
                  <a:srgbClr val="5B7BFF"/>
                </a:solidFill>
                <a:latin typeface="Calibri" pitchFamily="34" charset="0"/>
                <a:ea typeface="Calibri" pitchFamily="34" charset="-122"/>
                <a:cs typeface="Calibri" pitchFamily="34" charset="-120"/>
              </a:rPr>
              <a:t>2</a:t>
            </a:r>
            <a:endParaRPr lang="en-US" sz="2100" dirty="0"/>
          </a:p>
        </p:txBody>
      </p:sp>
      <p:sp>
        <p:nvSpPr>
          <p:cNvPr id="11" name="Text 9"/>
          <p:cNvSpPr/>
          <p:nvPr/>
        </p:nvSpPr>
        <p:spPr>
          <a:xfrm>
            <a:off x="3383280" y="1481328"/>
            <a:ext cx="100584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2980944" y="2121408"/>
            <a:ext cx="1828800" cy="365760"/>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Pin on map</a:t>
            </a:r>
            <a:endParaRPr lang="en-US" sz="1550" dirty="0"/>
          </a:p>
        </p:txBody>
      </p:sp>
      <p:sp>
        <p:nvSpPr>
          <p:cNvPr id="13" name="Text 11"/>
          <p:cNvSpPr/>
          <p:nvPr/>
        </p:nvSpPr>
        <p:spPr>
          <a:xfrm>
            <a:off x="2980944" y="2487168"/>
            <a:ext cx="1828800" cy="502920"/>
          </a:xfrm>
          <a:prstGeom prst="rect">
            <a:avLst/>
          </a:prstGeom>
          <a:noFill/>
          <a:ln/>
        </p:spPr>
        <p:txBody>
          <a:bodyPr wrap="square" lIns="0" tIns="0" rIns="0" bIns="0" rtlCol="0" anchor="ctr"/>
          <a:lstStyle/>
          <a:p>
            <a:pPr indent="0" marL="0">
              <a:buNone/>
            </a:pPr>
            <a:r>
              <a:rPr lang="en-US" sz="1150" dirty="0">
                <a:solidFill>
                  <a:srgbClr val="9FA8D6"/>
                </a:solidFill>
                <a:latin typeface="Calibri" pitchFamily="34" charset="0"/>
                <a:ea typeface="Calibri" pitchFamily="34" charset="-122"/>
                <a:cs typeface="Calibri" pitchFamily="34" charset="-120"/>
              </a:rPr>
              <a:t>GPS or tap-to-pin</a:t>
            </a:r>
            <a:endParaRPr lang="en-US" sz="1150" dirty="0"/>
          </a:p>
        </p:txBody>
      </p:sp>
      <p:sp>
        <p:nvSpPr>
          <p:cNvPr id="14" name="Text 12"/>
          <p:cNvSpPr/>
          <p:nvPr/>
        </p:nvSpPr>
        <p:spPr>
          <a:xfrm>
            <a:off x="4882896" y="1965960"/>
            <a:ext cx="310896" cy="457200"/>
          </a:xfrm>
          <a:prstGeom prst="rect">
            <a:avLst/>
          </a:prstGeom>
          <a:noFill/>
          <a:ln/>
        </p:spPr>
        <p:txBody>
          <a:bodyPr wrap="square" lIns="0" tIns="0" rIns="0" bIns="0" rtlCol="0" anchor="ctr"/>
          <a:lstStyle/>
          <a:p>
            <a:pPr algn="ctr" indent="0" marL="0">
              <a:buNone/>
            </a:pPr>
            <a:r>
              <a:rPr lang="en-US" sz="1900" dirty="0">
                <a:solidFill>
                  <a:srgbClr val="5B7BFF"/>
                </a:solidFill>
                <a:latin typeface="Calibri" pitchFamily="34" charset="0"/>
                <a:ea typeface="Calibri" pitchFamily="34" charset="-122"/>
                <a:cs typeface="Calibri" pitchFamily="34" charset="-120"/>
              </a:rPr>
              <a:t>→</a:t>
            </a:r>
            <a:endParaRPr lang="en-US" sz="1900" dirty="0"/>
          </a:p>
        </p:txBody>
      </p:sp>
      <p:sp>
        <p:nvSpPr>
          <p:cNvPr id="15" name="Shape 13"/>
          <p:cNvSpPr/>
          <p:nvPr/>
        </p:nvSpPr>
        <p:spPr>
          <a:xfrm>
            <a:off x="5175504" y="1371600"/>
            <a:ext cx="2084832" cy="1783080"/>
          </a:xfrm>
          <a:prstGeom prst="roundRect">
            <a:avLst>
              <a:gd name="adj" fmla="val 6154"/>
            </a:avLst>
          </a:prstGeom>
          <a:solidFill>
            <a:srgbClr val="141A33"/>
          </a:solidFill>
          <a:ln w="15875">
            <a:solidFill>
              <a:srgbClr val="2C3560"/>
            </a:solidFill>
            <a:prstDash val="solid"/>
          </a:ln>
        </p:spPr>
      </p:sp>
      <p:sp>
        <p:nvSpPr>
          <p:cNvPr id="16" name="Text 14"/>
          <p:cNvSpPr/>
          <p:nvPr/>
        </p:nvSpPr>
        <p:spPr>
          <a:xfrm>
            <a:off x="5340096" y="1517904"/>
            <a:ext cx="457200" cy="411480"/>
          </a:xfrm>
          <a:prstGeom prst="rect">
            <a:avLst/>
          </a:prstGeom>
          <a:noFill/>
          <a:ln/>
        </p:spPr>
        <p:txBody>
          <a:bodyPr wrap="square" lIns="0" tIns="0" rIns="0" bIns="0" rtlCol="0" anchor="ctr"/>
          <a:lstStyle/>
          <a:p>
            <a:pPr indent="0" marL="0">
              <a:buNone/>
            </a:pPr>
            <a:r>
              <a:rPr lang="en-US" sz="2100" b="1" dirty="0">
                <a:solidFill>
                  <a:srgbClr val="5B7BFF"/>
                </a:solidFill>
                <a:latin typeface="Calibri" pitchFamily="34" charset="0"/>
                <a:ea typeface="Calibri" pitchFamily="34" charset="-122"/>
                <a:cs typeface="Calibri" pitchFamily="34" charset="-120"/>
              </a:rPr>
              <a:t>3</a:t>
            </a:r>
            <a:endParaRPr lang="en-US" sz="2100" dirty="0"/>
          </a:p>
        </p:txBody>
      </p:sp>
      <p:sp>
        <p:nvSpPr>
          <p:cNvPr id="17" name="Text 15"/>
          <p:cNvSpPr/>
          <p:nvPr/>
        </p:nvSpPr>
        <p:spPr>
          <a:xfrm>
            <a:off x="5742432" y="1481328"/>
            <a:ext cx="100584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6"/>
          <p:cNvSpPr/>
          <p:nvPr/>
        </p:nvSpPr>
        <p:spPr>
          <a:xfrm>
            <a:off x="5340096" y="2121408"/>
            <a:ext cx="1828800" cy="365760"/>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Photo</a:t>
            </a:r>
            <a:endParaRPr lang="en-US" sz="1550" dirty="0"/>
          </a:p>
        </p:txBody>
      </p:sp>
      <p:sp>
        <p:nvSpPr>
          <p:cNvPr id="19" name="Text 17"/>
          <p:cNvSpPr/>
          <p:nvPr/>
        </p:nvSpPr>
        <p:spPr>
          <a:xfrm>
            <a:off x="5340096" y="2487168"/>
            <a:ext cx="1828800" cy="502920"/>
          </a:xfrm>
          <a:prstGeom prst="rect">
            <a:avLst/>
          </a:prstGeom>
          <a:noFill/>
          <a:ln/>
        </p:spPr>
        <p:txBody>
          <a:bodyPr wrap="square" lIns="0" tIns="0" rIns="0" bIns="0" rtlCol="0" anchor="ctr"/>
          <a:lstStyle/>
          <a:p>
            <a:pPr indent="0" marL="0">
              <a:buNone/>
            </a:pPr>
            <a:r>
              <a:rPr lang="en-US" sz="1150" dirty="0">
                <a:solidFill>
                  <a:srgbClr val="9FA8D6"/>
                </a:solidFill>
                <a:latin typeface="Calibri" pitchFamily="34" charset="0"/>
                <a:ea typeface="Calibri" pitchFamily="34" charset="-122"/>
                <a:cs typeface="Calibri" pitchFamily="34" charset="-120"/>
              </a:rPr>
              <a:t>validated evidence</a:t>
            </a:r>
            <a:endParaRPr lang="en-US" sz="1150" dirty="0"/>
          </a:p>
        </p:txBody>
      </p:sp>
      <p:sp>
        <p:nvSpPr>
          <p:cNvPr id="20" name="Text 18"/>
          <p:cNvSpPr/>
          <p:nvPr/>
        </p:nvSpPr>
        <p:spPr>
          <a:xfrm>
            <a:off x="7242048" y="1965960"/>
            <a:ext cx="310896" cy="457200"/>
          </a:xfrm>
          <a:prstGeom prst="rect">
            <a:avLst/>
          </a:prstGeom>
          <a:noFill/>
          <a:ln/>
        </p:spPr>
        <p:txBody>
          <a:bodyPr wrap="square" lIns="0" tIns="0" rIns="0" bIns="0" rtlCol="0" anchor="ctr"/>
          <a:lstStyle/>
          <a:p>
            <a:pPr algn="ctr" indent="0" marL="0">
              <a:buNone/>
            </a:pPr>
            <a:r>
              <a:rPr lang="en-US" sz="1900" dirty="0">
                <a:solidFill>
                  <a:srgbClr val="5B7BFF"/>
                </a:solidFill>
                <a:latin typeface="Calibri" pitchFamily="34" charset="0"/>
                <a:ea typeface="Calibri" pitchFamily="34" charset="-122"/>
                <a:cs typeface="Calibri" pitchFamily="34" charset="-120"/>
              </a:rPr>
              <a:t>→</a:t>
            </a:r>
            <a:endParaRPr lang="en-US" sz="1900" dirty="0"/>
          </a:p>
        </p:txBody>
      </p:sp>
      <p:sp>
        <p:nvSpPr>
          <p:cNvPr id="21" name="Shape 19"/>
          <p:cNvSpPr/>
          <p:nvPr/>
        </p:nvSpPr>
        <p:spPr>
          <a:xfrm>
            <a:off x="7534656" y="1371600"/>
            <a:ext cx="2084832" cy="1783080"/>
          </a:xfrm>
          <a:prstGeom prst="roundRect">
            <a:avLst>
              <a:gd name="adj" fmla="val 6154"/>
            </a:avLst>
          </a:prstGeom>
          <a:solidFill>
            <a:srgbClr val="141A33"/>
          </a:solidFill>
          <a:ln w="15875">
            <a:solidFill>
              <a:srgbClr val="2C3560"/>
            </a:solidFill>
            <a:prstDash val="solid"/>
          </a:ln>
        </p:spPr>
      </p:sp>
      <p:sp>
        <p:nvSpPr>
          <p:cNvPr id="22" name="Text 20"/>
          <p:cNvSpPr/>
          <p:nvPr/>
        </p:nvSpPr>
        <p:spPr>
          <a:xfrm>
            <a:off x="7699248" y="1517904"/>
            <a:ext cx="457200" cy="411480"/>
          </a:xfrm>
          <a:prstGeom prst="rect">
            <a:avLst/>
          </a:prstGeom>
          <a:noFill/>
          <a:ln/>
        </p:spPr>
        <p:txBody>
          <a:bodyPr wrap="square" lIns="0" tIns="0" rIns="0" bIns="0" rtlCol="0" anchor="ctr"/>
          <a:lstStyle/>
          <a:p>
            <a:pPr indent="0" marL="0">
              <a:buNone/>
            </a:pPr>
            <a:r>
              <a:rPr lang="en-US" sz="2100" b="1" dirty="0">
                <a:solidFill>
                  <a:srgbClr val="5B7BFF"/>
                </a:solidFill>
                <a:latin typeface="Calibri" pitchFamily="34" charset="0"/>
                <a:ea typeface="Calibri" pitchFamily="34" charset="-122"/>
                <a:cs typeface="Calibri" pitchFamily="34" charset="-120"/>
              </a:rPr>
              <a:t>4</a:t>
            </a:r>
            <a:endParaRPr lang="en-US" sz="2100" dirty="0"/>
          </a:p>
        </p:txBody>
      </p:sp>
      <p:sp>
        <p:nvSpPr>
          <p:cNvPr id="23" name="Text 21"/>
          <p:cNvSpPr/>
          <p:nvPr/>
        </p:nvSpPr>
        <p:spPr>
          <a:xfrm>
            <a:off x="8101584" y="1481328"/>
            <a:ext cx="100584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7699248" y="2121408"/>
            <a:ext cx="1828800" cy="365760"/>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Describe</a:t>
            </a:r>
            <a:endParaRPr lang="en-US" sz="1550" dirty="0"/>
          </a:p>
        </p:txBody>
      </p:sp>
      <p:sp>
        <p:nvSpPr>
          <p:cNvPr id="25" name="Text 23"/>
          <p:cNvSpPr/>
          <p:nvPr/>
        </p:nvSpPr>
        <p:spPr>
          <a:xfrm>
            <a:off x="7699248" y="2487168"/>
            <a:ext cx="1828800" cy="502920"/>
          </a:xfrm>
          <a:prstGeom prst="rect">
            <a:avLst/>
          </a:prstGeom>
          <a:noFill/>
          <a:ln/>
        </p:spPr>
        <p:txBody>
          <a:bodyPr wrap="square" lIns="0" tIns="0" rIns="0" bIns="0" rtlCol="0" anchor="ctr"/>
          <a:lstStyle/>
          <a:p>
            <a:pPr indent="0" marL="0">
              <a:buNone/>
            </a:pPr>
            <a:r>
              <a:rPr lang="en-US" sz="1150" dirty="0">
                <a:solidFill>
                  <a:srgbClr val="9FA8D6"/>
                </a:solidFill>
                <a:latin typeface="Calibri" pitchFamily="34" charset="0"/>
                <a:ea typeface="Calibri" pitchFamily="34" charset="-122"/>
                <a:cs typeface="Calibri" pitchFamily="34" charset="-120"/>
              </a:rPr>
              <a:t>any language</a:t>
            </a:r>
            <a:endParaRPr lang="en-US" sz="1150" dirty="0"/>
          </a:p>
        </p:txBody>
      </p:sp>
      <p:sp>
        <p:nvSpPr>
          <p:cNvPr id="26" name="Text 24"/>
          <p:cNvSpPr/>
          <p:nvPr/>
        </p:nvSpPr>
        <p:spPr>
          <a:xfrm>
            <a:off x="9601200" y="1965960"/>
            <a:ext cx="310896" cy="457200"/>
          </a:xfrm>
          <a:prstGeom prst="rect">
            <a:avLst/>
          </a:prstGeom>
          <a:noFill/>
          <a:ln/>
        </p:spPr>
        <p:txBody>
          <a:bodyPr wrap="square" lIns="0" tIns="0" rIns="0" bIns="0" rtlCol="0" anchor="ctr"/>
          <a:lstStyle/>
          <a:p>
            <a:pPr algn="ctr" indent="0" marL="0">
              <a:buNone/>
            </a:pPr>
            <a:r>
              <a:rPr lang="en-US" sz="1900" dirty="0">
                <a:solidFill>
                  <a:srgbClr val="5B7BFF"/>
                </a:solidFill>
                <a:latin typeface="Calibri" pitchFamily="34" charset="0"/>
                <a:ea typeface="Calibri" pitchFamily="34" charset="-122"/>
                <a:cs typeface="Calibri" pitchFamily="34" charset="-120"/>
              </a:rPr>
              <a:t>→</a:t>
            </a:r>
            <a:endParaRPr lang="en-US" sz="1900" dirty="0"/>
          </a:p>
        </p:txBody>
      </p:sp>
      <p:sp>
        <p:nvSpPr>
          <p:cNvPr id="27" name="Shape 25"/>
          <p:cNvSpPr/>
          <p:nvPr/>
        </p:nvSpPr>
        <p:spPr>
          <a:xfrm>
            <a:off x="9893808" y="1371600"/>
            <a:ext cx="2084832" cy="1783080"/>
          </a:xfrm>
          <a:prstGeom prst="roundRect">
            <a:avLst>
              <a:gd name="adj" fmla="val 6154"/>
            </a:avLst>
          </a:prstGeom>
          <a:solidFill>
            <a:srgbClr val="141A33"/>
          </a:solidFill>
          <a:ln w="15875">
            <a:solidFill>
              <a:srgbClr val="34D399"/>
            </a:solidFill>
            <a:prstDash val="solid"/>
          </a:ln>
        </p:spPr>
      </p:sp>
      <p:sp>
        <p:nvSpPr>
          <p:cNvPr id="28" name="Text 26"/>
          <p:cNvSpPr/>
          <p:nvPr/>
        </p:nvSpPr>
        <p:spPr>
          <a:xfrm>
            <a:off x="10058400" y="1517904"/>
            <a:ext cx="457200" cy="411480"/>
          </a:xfrm>
          <a:prstGeom prst="rect">
            <a:avLst/>
          </a:prstGeom>
          <a:noFill/>
          <a:ln/>
        </p:spPr>
        <p:txBody>
          <a:bodyPr wrap="square" lIns="0" tIns="0" rIns="0" bIns="0" rtlCol="0" anchor="ctr"/>
          <a:lstStyle/>
          <a:p>
            <a:pPr indent="0" marL="0">
              <a:buNone/>
            </a:pPr>
            <a:r>
              <a:rPr lang="en-US" sz="2100" b="1" dirty="0">
                <a:solidFill>
                  <a:srgbClr val="5B7BFF"/>
                </a:solidFill>
                <a:latin typeface="Calibri" pitchFamily="34" charset="0"/>
                <a:ea typeface="Calibri" pitchFamily="34" charset="-122"/>
                <a:cs typeface="Calibri" pitchFamily="34" charset="-120"/>
              </a:rPr>
              <a:t>5</a:t>
            </a:r>
            <a:endParaRPr lang="en-US" sz="2100" dirty="0"/>
          </a:p>
        </p:txBody>
      </p:sp>
      <p:sp>
        <p:nvSpPr>
          <p:cNvPr id="29" name="Text 27"/>
          <p:cNvSpPr/>
          <p:nvPr/>
        </p:nvSpPr>
        <p:spPr>
          <a:xfrm>
            <a:off x="10460736" y="1481328"/>
            <a:ext cx="1005840" cy="50292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30" name="Text 28"/>
          <p:cNvSpPr/>
          <p:nvPr/>
        </p:nvSpPr>
        <p:spPr>
          <a:xfrm>
            <a:off x="10058400" y="2121408"/>
            <a:ext cx="1828800" cy="365760"/>
          </a:xfrm>
          <a:prstGeom prst="rect">
            <a:avLst/>
          </a:prstGeom>
          <a:noFill/>
          <a:ln/>
        </p:spPr>
        <p:txBody>
          <a:bodyPr wrap="square" lIns="0" tIns="0" rIns="0" bIns="0" rtlCol="0" anchor="ctr"/>
          <a:lstStyle/>
          <a:p>
            <a:pPr indent="0" marL="0">
              <a:buNone/>
            </a:pPr>
            <a:r>
              <a:rPr lang="en-US" sz="1550" b="1" dirty="0">
                <a:solidFill>
                  <a:srgbClr val="E7ECFF"/>
                </a:solidFill>
                <a:latin typeface="Calibri" pitchFamily="34" charset="0"/>
                <a:ea typeface="Calibri" pitchFamily="34" charset="-122"/>
                <a:cs typeface="Calibri" pitchFamily="34" charset="-120"/>
              </a:rPr>
              <a:t>Submit</a:t>
            </a:r>
            <a:endParaRPr lang="en-US" sz="1550" dirty="0"/>
          </a:p>
        </p:txBody>
      </p:sp>
      <p:sp>
        <p:nvSpPr>
          <p:cNvPr id="31" name="Text 29"/>
          <p:cNvSpPr/>
          <p:nvPr/>
        </p:nvSpPr>
        <p:spPr>
          <a:xfrm>
            <a:off x="10058400" y="2487168"/>
            <a:ext cx="1828800" cy="502920"/>
          </a:xfrm>
          <a:prstGeom prst="rect">
            <a:avLst/>
          </a:prstGeom>
          <a:noFill/>
          <a:ln/>
        </p:spPr>
        <p:txBody>
          <a:bodyPr wrap="square" lIns="0" tIns="0" rIns="0" bIns="0" rtlCol="0" anchor="ctr"/>
          <a:lstStyle/>
          <a:p>
            <a:pPr indent="0" marL="0">
              <a:buNone/>
            </a:pPr>
            <a:r>
              <a:rPr lang="en-US" sz="1150" dirty="0">
                <a:solidFill>
                  <a:srgbClr val="9FA8D6"/>
                </a:solidFill>
                <a:latin typeface="Calibri" pitchFamily="34" charset="0"/>
                <a:ea typeface="Calibri" pitchFamily="34" charset="-122"/>
                <a:cs typeface="Calibri" pitchFamily="34" charset="-120"/>
              </a:rPr>
              <a:t>tracking ID issued</a:t>
            </a:r>
            <a:endParaRPr lang="en-US" sz="1150" dirty="0"/>
          </a:p>
        </p:txBody>
      </p:sp>
      <p:sp>
        <p:nvSpPr>
          <p:cNvPr id="32" name="Shape 30"/>
          <p:cNvSpPr/>
          <p:nvPr/>
        </p:nvSpPr>
        <p:spPr>
          <a:xfrm>
            <a:off x="548640" y="3611880"/>
            <a:ext cx="5577840" cy="2743200"/>
          </a:xfrm>
          <a:prstGeom prst="roundRect">
            <a:avLst>
              <a:gd name="adj" fmla="val 4000"/>
            </a:avLst>
          </a:prstGeom>
          <a:solidFill>
            <a:srgbClr val="141A33"/>
          </a:solidFill>
          <a:ln w="15875">
            <a:solidFill>
              <a:srgbClr val="38BDF8"/>
            </a:solidFill>
            <a:prstDash val="solid"/>
          </a:ln>
        </p:spPr>
      </p:sp>
      <p:sp>
        <p:nvSpPr>
          <p:cNvPr id="33" name="Shape 31"/>
          <p:cNvSpPr/>
          <p:nvPr/>
        </p:nvSpPr>
        <p:spPr>
          <a:xfrm>
            <a:off x="868680" y="3886200"/>
            <a:ext cx="566928" cy="566928"/>
          </a:xfrm>
          <a:prstGeom prst="ellipse">
            <a:avLst/>
          </a:prstGeom>
          <a:solidFill>
            <a:srgbClr val="38BDF8">
              <a:alpha val="22000"/>
            </a:srgbClr>
          </a:solidFill>
          <a:ln w="15875">
            <a:solidFill>
              <a:srgbClr val="38BDF8"/>
            </a:solidFill>
            <a:prstDash val="solid"/>
          </a:ln>
        </p:spPr>
      </p:sp>
      <p:sp>
        <p:nvSpPr>
          <p:cNvPr id="34" name="Text 32"/>
          <p:cNvSpPr/>
          <p:nvPr/>
        </p:nvSpPr>
        <p:spPr>
          <a:xfrm>
            <a:off x="786384" y="386791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35" name="Text 33"/>
          <p:cNvSpPr/>
          <p:nvPr/>
        </p:nvSpPr>
        <p:spPr>
          <a:xfrm>
            <a:off x="1600200" y="3959352"/>
            <a:ext cx="4297680" cy="411480"/>
          </a:xfrm>
          <a:prstGeom prst="rect">
            <a:avLst/>
          </a:prstGeom>
          <a:noFill/>
          <a:ln/>
        </p:spPr>
        <p:txBody>
          <a:bodyPr wrap="square" lIns="0" tIns="0" rIns="0" bIns="0" rtlCol="0" anchor="ctr"/>
          <a:lstStyle/>
          <a:p>
            <a:pPr indent="0" marL="0">
              <a:buNone/>
            </a:pPr>
            <a:r>
              <a:rPr lang="en-US" sz="1650" b="1" dirty="0">
                <a:solidFill>
                  <a:srgbClr val="E7ECFF"/>
                </a:solidFill>
                <a:latin typeface="Calibri" pitchFamily="34" charset="0"/>
                <a:ea typeface="Calibri" pitchFamily="34" charset="-122"/>
                <a:cs typeface="Calibri" pitchFamily="34" charset="-120"/>
              </a:rPr>
              <a:t>Maps stack — free, open, key-less</a:t>
            </a:r>
            <a:endParaRPr lang="en-US" sz="1650" dirty="0"/>
          </a:p>
        </p:txBody>
      </p:sp>
      <p:sp>
        <p:nvSpPr>
          <p:cNvPr id="36" name="Text 34"/>
          <p:cNvSpPr/>
          <p:nvPr/>
        </p:nvSpPr>
        <p:spPr>
          <a:xfrm>
            <a:off x="868680" y="4526280"/>
            <a:ext cx="4983480" cy="173736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9FA8D6"/>
                </a:solidFill>
                <a:latin typeface="Calibri" pitchFamily="34" charset="0"/>
                <a:ea typeface="Calibri" pitchFamily="34" charset="-122"/>
                <a:cs typeface="Calibri" pitchFamily="34" charset="-120"/>
              </a:rPr>
              <a:t>Leaflet + React-Leaflet for rendering; OpenStreetMap tiles (CARTO dark for admin); OSM Nominatim reverse-geocodes the pin into an address</a:t>
            </a:r>
            <a:endParaRPr lang="en-US" sz="1250" dirty="0"/>
          </a:p>
          <a:p>
            <a:pPr marL="342900" indent="-342900">
              <a:lnSpc>
                <a:spcPts val="1700"/>
              </a:lnSpc>
              <a:spcAft>
                <a:spcPts val="800"/>
              </a:spcAft>
              <a:buSzPct val="100000"/>
              <a:buChar char="•"/>
            </a:pPr>
            <a:r>
              <a:rPr lang="en-US" sz="1250" dirty="0">
                <a:solidFill>
                  <a:srgbClr val="9FA8D6"/>
                </a:solidFill>
                <a:latin typeface="Calibri" pitchFamily="34" charset="0"/>
                <a:ea typeface="Calibri" pitchFamily="34" charset="-122"/>
                <a:cs typeface="Calibri" pitchFamily="34" charset="-120"/>
              </a:rPr>
              <a:t>Chosen over Google Maps / Mapbox: zero API keys, zero billing, open data, provider swappable via env config</a:t>
            </a:r>
            <a:endParaRPr lang="en-US" sz="1250" dirty="0"/>
          </a:p>
          <a:p>
            <a:pPr marL="342900" indent="-342900">
              <a:lnSpc>
                <a:spcPts val="1700"/>
              </a:lnSpc>
              <a:buSzPct val="100000"/>
              <a:buChar char="•"/>
            </a:pPr>
            <a:r>
              <a:rPr lang="en-US" sz="1250" dirty="0">
                <a:solidFill>
                  <a:srgbClr val="9FA8D6"/>
                </a:solidFill>
                <a:latin typeface="Calibri" pitchFamily="34" charset="0"/>
                <a:ea typeface="Calibri" pitchFamily="34" charset="-122"/>
                <a:cs typeface="Calibri" pitchFamily="34" charset="-120"/>
              </a:rPr>
              <a:t>Geocoding failure never blocks a report — coordinates are used as fallback</a:t>
            </a:r>
            <a:endParaRPr lang="en-US" sz="1250" dirty="0"/>
          </a:p>
        </p:txBody>
      </p:sp>
      <p:sp>
        <p:nvSpPr>
          <p:cNvPr id="37" name="Shape 35"/>
          <p:cNvSpPr/>
          <p:nvPr/>
        </p:nvSpPr>
        <p:spPr>
          <a:xfrm>
            <a:off x="6492240" y="3611880"/>
            <a:ext cx="5120640" cy="2743200"/>
          </a:xfrm>
          <a:prstGeom prst="roundRect">
            <a:avLst>
              <a:gd name="adj" fmla="val 4000"/>
            </a:avLst>
          </a:prstGeom>
          <a:solidFill>
            <a:srgbClr val="141A33"/>
          </a:solidFill>
          <a:ln w="15875">
            <a:solidFill>
              <a:srgbClr val="D55181"/>
            </a:solidFill>
            <a:prstDash val="solid"/>
          </a:ln>
        </p:spPr>
      </p:sp>
      <p:sp>
        <p:nvSpPr>
          <p:cNvPr id="38" name="Shape 36"/>
          <p:cNvSpPr/>
          <p:nvPr/>
        </p:nvSpPr>
        <p:spPr>
          <a:xfrm>
            <a:off x="6812280" y="3886200"/>
            <a:ext cx="566928" cy="566928"/>
          </a:xfrm>
          <a:prstGeom prst="ellipse">
            <a:avLst/>
          </a:prstGeom>
          <a:solidFill>
            <a:srgbClr val="D55181">
              <a:alpha val="22000"/>
            </a:srgbClr>
          </a:solidFill>
          <a:ln w="15875">
            <a:solidFill>
              <a:srgbClr val="D55181"/>
            </a:solidFill>
            <a:prstDash val="solid"/>
          </a:ln>
        </p:spPr>
      </p:sp>
      <p:sp>
        <p:nvSpPr>
          <p:cNvPr id="39" name="Text 37"/>
          <p:cNvSpPr/>
          <p:nvPr/>
        </p:nvSpPr>
        <p:spPr>
          <a:xfrm>
            <a:off x="6729984" y="386791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40" name="Text 38"/>
          <p:cNvSpPr/>
          <p:nvPr/>
        </p:nvSpPr>
        <p:spPr>
          <a:xfrm>
            <a:off x="7543800" y="3959352"/>
            <a:ext cx="3931920" cy="411480"/>
          </a:xfrm>
          <a:prstGeom prst="rect">
            <a:avLst/>
          </a:prstGeom>
          <a:noFill/>
          <a:ln/>
        </p:spPr>
        <p:txBody>
          <a:bodyPr wrap="square" lIns="0" tIns="0" rIns="0" bIns="0" rtlCol="0" anchor="ctr"/>
          <a:lstStyle/>
          <a:p>
            <a:pPr indent="0" marL="0">
              <a:buNone/>
            </a:pPr>
            <a:r>
              <a:rPr lang="en-US" sz="1650" b="1" dirty="0">
                <a:solidFill>
                  <a:srgbClr val="E7ECFF"/>
                </a:solidFill>
                <a:latin typeface="Calibri" pitchFamily="34" charset="0"/>
                <a:ea typeface="Calibri" pitchFamily="34" charset="-122"/>
                <a:cs typeface="Calibri" pitchFamily="34" charset="-120"/>
              </a:rPr>
              <a:t>AI photo verification</a:t>
            </a:r>
            <a:endParaRPr lang="en-US" sz="1650" dirty="0"/>
          </a:p>
        </p:txBody>
      </p:sp>
      <p:sp>
        <p:nvSpPr>
          <p:cNvPr id="41" name="Text 39"/>
          <p:cNvSpPr/>
          <p:nvPr/>
        </p:nvSpPr>
        <p:spPr>
          <a:xfrm>
            <a:off x="6812280" y="4526280"/>
            <a:ext cx="4572000" cy="173736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9FA8D6"/>
                </a:solidFill>
                <a:latin typeface="Calibri" pitchFamily="34" charset="0"/>
                <a:ea typeface="Calibri" pitchFamily="34" charset="-122"/>
                <a:cs typeface="Calibri" pitchFamily="34" charset="-120"/>
              </a:rPr>
              <a:t>Every photo is checked in the background: “does this actually look like a pothole?”</a:t>
            </a:r>
            <a:endParaRPr lang="en-US" sz="1250" dirty="0"/>
          </a:p>
          <a:p>
            <a:pPr marL="342900" indent="-342900">
              <a:lnSpc>
                <a:spcPts val="1700"/>
              </a:lnSpc>
              <a:spcAft>
                <a:spcPts val="800"/>
              </a:spcAft>
              <a:buSzPct val="100000"/>
              <a:buChar char="•"/>
            </a:pPr>
            <a:r>
              <a:rPr lang="en-US" sz="1250" dirty="0">
                <a:solidFill>
                  <a:srgbClr val="9FA8D6"/>
                </a:solidFill>
                <a:latin typeface="Calibri" pitchFamily="34" charset="0"/>
                <a:ea typeface="Calibri" pitchFamily="34" charset="-122"/>
                <a:cs typeface="Calibri" pitchFamily="34" charset="-120"/>
              </a:rPr>
              <a:t>Proof-of-resolution photos checked against “does this show the fix?”</a:t>
            </a:r>
            <a:endParaRPr lang="en-US" sz="1250" dirty="0"/>
          </a:p>
          <a:p>
            <a:pPr marL="342900" indent="-342900">
              <a:lnSpc>
                <a:spcPts val="1700"/>
              </a:lnSpc>
              <a:buSzPct val="100000"/>
              <a:buChar char="•"/>
            </a:pPr>
            <a:r>
              <a:rPr lang="en-US" sz="1250" dirty="0">
                <a:solidFill>
                  <a:srgbClr val="9FA8D6"/>
                </a:solidFill>
                <a:latin typeface="Calibri" pitchFamily="34" charset="0"/>
                <a:ea typeface="Calibri" pitchFamily="34" charset="-122"/>
                <a:cs typeface="Calibri" pitchFamily="34" charset="-120"/>
              </a:rPr>
              <a:t>Verdict badges in the admin queue — submission never blocks, no key degrades gracefully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The brain — one case per real-world problem</a:t>
            </a:r>
            <a:endParaRPr lang="en-US" sz="3400" dirty="0"/>
          </a:p>
        </p:txBody>
      </p:sp>
      <p:sp>
        <p:nvSpPr>
          <p:cNvPr id="3" name="Shape 1"/>
          <p:cNvSpPr/>
          <p:nvPr/>
        </p:nvSpPr>
        <p:spPr>
          <a:xfrm>
            <a:off x="548640" y="1371600"/>
            <a:ext cx="3611880" cy="2834640"/>
          </a:xfrm>
          <a:prstGeom prst="roundRect">
            <a:avLst>
              <a:gd name="adj" fmla="val 3871"/>
            </a:avLst>
          </a:prstGeom>
          <a:solidFill>
            <a:srgbClr val="141A33"/>
          </a:solidFill>
          <a:ln w="15875">
            <a:solidFill>
              <a:srgbClr val="38BDF8"/>
            </a:solidFill>
            <a:prstDash val="solid"/>
          </a:ln>
        </p:spPr>
      </p:sp>
      <p:sp>
        <p:nvSpPr>
          <p:cNvPr id="4" name="Shape 2"/>
          <p:cNvSpPr/>
          <p:nvPr/>
        </p:nvSpPr>
        <p:spPr>
          <a:xfrm>
            <a:off x="868680" y="1664208"/>
            <a:ext cx="566928" cy="566928"/>
          </a:xfrm>
          <a:prstGeom prst="ellipse">
            <a:avLst/>
          </a:prstGeom>
          <a:solidFill>
            <a:srgbClr val="38BDF8">
              <a:alpha val="22000"/>
            </a:srgbClr>
          </a:solidFill>
          <a:ln w="15875">
            <a:solidFill>
              <a:srgbClr val="38BDF8"/>
            </a:solidFill>
            <a:prstDash val="solid"/>
          </a:ln>
        </p:spPr>
      </p:sp>
      <p:sp>
        <p:nvSpPr>
          <p:cNvPr id="5" name="Text 3"/>
          <p:cNvSpPr/>
          <p:nvPr/>
        </p:nvSpPr>
        <p:spPr>
          <a:xfrm>
            <a:off x="786384" y="1645920"/>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600200" y="1755648"/>
            <a:ext cx="24688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Duplicate detection</a:t>
            </a:r>
            <a:endParaRPr lang="en-US" sz="1700" dirty="0"/>
          </a:p>
        </p:txBody>
      </p:sp>
      <p:sp>
        <p:nvSpPr>
          <p:cNvPr id="7" name="Text 5"/>
          <p:cNvSpPr/>
          <p:nvPr/>
        </p:nvSpPr>
        <p:spPr>
          <a:xfrm>
            <a:off x="868680" y="2331720"/>
            <a:ext cx="3017520" cy="173736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Our own algorithm: per-category radius (25–80 m) + recency window (3–60 days). A match links the new report into the existing case — every reporter keeps their own tracking ID.</a:t>
            </a:r>
            <a:endParaRPr lang="en-US" sz="1250" dirty="0"/>
          </a:p>
        </p:txBody>
      </p:sp>
      <p:sp>
        <p:nvSpPr>
          <p:cNvPr id="8" name="Text 6"/>
          <p:cNvSpPr/>
          <p:nvPr/>
        </p:nvSpPr>
        <p:spPr>
          <a:xfrm>
            <a:off x="4142232" y="2514600"/>
            <a:ext cx="457200" cy="548640"/>
          </a:xfrm>
          <a:prstGeom prst="rect">
            <a:avLst/>
          </a:prstGeom>
          <a:noFill/>
          <a:ln/>
        </p:spPr>
        <p:txBody>
          <a:bodyPr wrap="square" lIns="0" tIns="0" rIns="0" bIns="0" rtlCol="0" anchor="ctr"/>
          <a:lstStyle/>
          <a:p>
            <a:pPr algn="ctr" indent="0" marL="0">
              <a:buNone/>
            </a:pPr>
            <a:r>
              <a:rPr lang="en-US" sz="2600" b="1" dirty="0">
                <a:solidFill>
                  <a:srgbClr val="5B7BFF"/>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434840" y="1371600"/>
            <a:ext cx="3611880" cy="2834640"/>
          </a:xfrm>
          <a:prstGeom prst="roundRect">
            <a:avLst>
              <a:gd name="adj" fmla="val 3871"/>
            </a:avLst>
          </a:prstGeom>
          <a:solidFill>
            <a:srgbClr val="141A33"/>
          </a:solidFill>
          <a:ln w="15875">
            <a:solidFill>
              <a:srgbClr val="34D399"/>
            </a:solidFill>
            <a:prstDash val="solid"/>
          </a:ln>
        </p:spPr>
      </p:sp>
      <p:sp>
        <p:nvSpPr>
          <p:cNvPr id="10" name="Shape 8"/>
          <p:cNvSpPr/>
          <p:nvPr/>
        </p:nvSpPr>
        <p:spPr>
          <a:xfrm>
            <a:off x="4754880" y="1664208"/>
            <a:ext cx="566928" cy="566928"/>
          </a:xfrm>
          <a:prstGeom prst="ellipse">
            <a:avLst/>
          </a:prstGeom>
          <a:solidFill>
            <a:srgbClr val="34D399">
              <a:alpha val="22000"/>
            </a:srgbClr>
          </a:solidFill>
          <a:ln w="15875">
            <a:solidFill>
              <a:srgbClr val="34D399"/>
            </a:solidFill>
            <a:prstDash val="solid"/>
          </a:ln>
        </p:spPr>
      </p:sp>
      <p:sp>
        <p:nvSpPr>
          <p:cNvPr id="11" name="Text 9"/>
          <p:cNvSpPr/>
          <p:nvPr/>
        </p:nvSpPr>
        <p:spPr>
          <a:xfrm>
            <a:off x="4672584" y="1645920"/>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5486400" y="1755648"/>
            <a:ext cx="24688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Department routing</a:t>
            </a:r>
            <a:endParaRPr lang="en-US" sz="1700" dirty="0"/>
          </a:p>
        </p:txBody>
      </p:sp>
      <p:sp>
        <p:nvSpPr>
          <p:cNvPr id="13" name="Text 11"/>
          <p:cNvSpPr/>
          <p:nvPr/>
        </p:nvSpPr>
        <p:spPr>
          <a:xfrm>
            <a:off x="4754880" y="2331720"/>
            <a:ext cx="3017520" cy="173736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Data-driven category_routes table maps each category to its department and notifies its inbox + email. Add a category with a database row — no if/else chains.</a:t>
            </a:r>
            <a:endParaRPr lang="en-US" sz="1250" dirty="0"/>
          </a:p>
        </p:txBody>
      </p:sp>
      <p:sp>
        <p:nvSpPr>
          <p:cNvPr id="14" name="Text 12"/>
          <p:cNvSpPr/>
          <p:nvPr/>
        </p:nvSpPr>
        <p:spPr>
          <a:xfrm>
            <a:off x="8028432" y="2514600"/>
            <a:ext cx="457200" cy="548640"/>
          </a:xfrm>
          <a:prstGeom prst="rect">
            <a:avLst/>
          </a:prstGeom>
          <a:noFill/>
          <a:ln/>
        </p:spPr>
        <p:txBody>
          <a:bodyPr wrap="square" lIns="0" tIns="0" rIns="0" bIns="0" rtlCol="0" anchor="ctr"/>
          <a:lstStyle/>
          <a:p>
            <a:pPr algn="ctr" indent="0" marL="0">
              <a:buNone/>
            </a:pPr>
            <a:r>
              <a:rPr lang="en-US" sz="2600" b="1" dirty="0">
                <a:solidFill>
                  <a:srgbClr val="5B7BFF"/>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8321040" y="1371600"/>
            <a:ext cx="3611880" cy="2834640"/>
          </a:xfrm>
          <a:prstGeom prst="roundRect">
            <a:avLst>
              <a:gd name="adj" fmla="val 3871"/>
            </a:avLst>
          </a:prstGeom>
          <a:solidFill>
            <a:srgbClr val="141A33"/>
          </a:solidFill>
          <a:ln w="15875">
            <a:solidFill>
              <a:srgbClr val="C98500"/>
            </a:solidFill>
            <a:prstDash val="solid"/>
          </a:ln>
        </p:spPr>
      </p:sp>
      <p:sp>
        <p:nvSpPr>
          <p:cNvPr id="16" name="Shape 14"/>
          <p:cNvSpPr/>
          <p:nvPr/>
        </p:nvSpPr>
        <p:spPr>
          <a:xfrm>
            <a:off x="8641080" y="1664208"/>
            <a:ext cx="566928" cy="566928"/>
          </a:xfrm>
          <a:prstGeom prst="ellipse">
            <a:avLst/>
          </a:prstGeom>
          <a:solidFill>
            <a:srgbClr val="C98500">
              <a:alpha val="22000"/>
            </a:srgbClr>
          </a:solidFill>
          <a:ln w="15875">
            <a:solidFill>
              <a:srgbClr val="C98500"/>
            </a:solidFill>
            <a:prstDash val="solid"/>
          </a:ln>
        </p:spPr>
      </p:sp>
      <p:sp>
        <p:nvSpPr>
          <p:cNvPr id="17" name="Text 15"/>
          <p:cNvSpPr/>
          <p:nvPr/>
        </p:nvSpPr>
        <p:spPr>
          <a:xfrm>
            <a:off x="8558784" y="1645920"/>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372600" y="1755648"/>
            <a:ext cx="24688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Priority scoring</a:t>
            </a:r>
            <a:endParaRPr lang="en-US" sz="1700" dirty="0"/>
          </a:p>
        </p:txBody>
      </p:sp>
      <p:sp>
        <p:nvSpPr>
          <p:cNvPr id="19" name="Text 17"/>
          <p:cNvSpPr/>
          <p:nvPr/>
        </p:nvSpPr>
        <p:spPr>
          <a:xfrm>
            <a:off x="8641080" y="2331720"/>
            <a:ext cx="3017520" cy="173736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Queue order = severity weight × people affected (reporters + upvotes) × days open. Mass-reported, long-ignored problems rise to the top automatically.</a:t>
            </a:r>
            <a:endParaRPr lang="en-US" sz="1250" dirty="0"/>
          </a:p>
        </p:txBody>
      </p:sp>
      <p:sp>
        <p:nvSpPr>
          <p:cNvPr id="20" name="Shape 18"/>
          <p:cNvSpPr/>
          <p:nvPr/>
        </p:nvSpPr>
        <p:spPr>
          <a:xfrm>
            <a:off x="548640" y="4526280"/>
            <a:ext cx="11064240" cy="1828800"/>
          </a:xfrm>
          <a:prstGeom prst="roundRect">
            <a:avLst>
              <a:gd name="adj" fmla="val 6000"/>
            </a:avLst>
          </a:prstGeom>
          <a:solidFill>
            <a:srgbClr val="141A33"/>
          </a:solidFill>
          <a:ln w="15875">
            <a:solidFill>
              <a:srgbClr val="FF7B72"/>
            </a:solidFill>
            <a:prstDash val="solid"/>
          </a:ln>
        </p:spPr>
      </p:sp>
      <p:sp>
        <p:nvSpPr>
          <p:cNvPr id="21" name="Shape 19"/>
          <p:cNvSpPr/>
          <p:nvPr/>
        </p:nvSpPr>
        <p:spPr>
          <a:xfrm>
            <a:off x="868680" y="4800600"/>
            <a:ext cx="566928" cy="566928"/>
          </a:xfrm>
          <a:prstGeom prst="ellipse">
            <a:avLst/>
          </a:prstGeom>
          <a:solidFill>
            <a:srgbClr val="FF7B72">
              <a:alpha val="22000"/>
            </a:srgbClr>
          </a:solidFill>
          <a:ln w="15875">
            <a:solidFill>
              <a:srgbClr val="FF7B72"/>
            </a:solidFill>
            <a:prstDash val="solid"/>
          </a:ln>
        </p:spPr>
      </p:sp>
      <p:sp>
        <p:nvSpPr>
          <p:cNvPr id="22" name="Text 20"/>
          <p:cNvSpPr/>
          <p:nvPr/>
        </p:nvSpPr>
        <p:spPr>
          <a:xfrm>
            <a:off x="786384" y="478231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1600200" y="4846320"/>
            <a:ext cx="969264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SLA escalation — nothing rots in a queue</a:t>
            </a:r>
            <a:endParaRPr lang="en-US" sz="1700" dirty="0"/>
          </a:p>
        </p:txBody>
      </p:sp>
      <p:sp>
        <p:nvSpPr>
          <p:cNvPr id="24" name="Text 22"/>
          <p:cNvSpPr/>
          <p:nvPr/>
        </p:nvSpPr>
        <p:spPr>
          <a:xfrm>
            <a:off x="1600200" y="5321808"/>
            <a:ext cx="9692640" cy="914400"/>
          </a:xfrm>
          <a:prstGeom prst="rect">
            <a:avLst/>
          </a:prstGeom>
          <a:noFill/>
          <a:ln/>
        </p:spPr>
        <p:txBody>
          <a:bodyPr wrap="square" lIns="0" tIns="0" rIns="0" bIns="0" rtlCol="0" anchor="ctr"/>
          <a:lstStyle/>
          <a:p>
            <a:pPr indent="0" marL="0">
              <a:lnSpc>
                <a:spcPts val="1900"/>
              </a:lnSpc>
              <a:buNone/>
            </a:pPr>
            <a:r>
              <a:rPr lang="en-US" sz="1300" dirty="0">
                <a:solidFill>
                  <a:srgbClr val="9FA8D6"/>
                </a:solidFill>
                <a:latin typeface="Calibri" pitchFamily="34" charset="0"/>
                <a:ea typeface="Calibri" pitchFamily="34" charset="-122"/>
                <a:cs typeface="Calibri" pitchFamily="34" charset="-120"/>
              </a:rPr>
              <a:t>Every category has a service-level limit (2 days for garbage overflow … 10 for damaged property). An idempotent sweep flags breached cases “⚠ SLA breached”, boosts them ×1.5 in priority, records the escalation in the audit trail, and notifies General Administration — the higher authority.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A lifecycle that closes the loop</a:t>
            </a:r>
            <a:endParaRPr lang="en-US" sz="3400" dirty="0"/>
          </a:p>
        </p:txBody>
      </p:sp>
      <p:sp>
        <p:nvSpPr>
          <p:cNvPr id="3" name="Shape 1"/>
          <p:cNvSpPr/>
          <p:nvPr/>
        </p:nvSpPr>
        <p:spPr>
          <a:xfrm>
            <a:off x="548640" y="1371600"/>
            <a:ext cx="1645920" cy="777240"/>
          </a:xfrm>
          <a:prstGeom prst="roundRect">
            <a:avLst>
              <a:gd name="adj" fmla="val 14118"/>
            </a:avLst>
          </a:prstGeom>
          <a:solidFill>
            <a:srgbClr val="141A33"/>
          </a:solidFill>
          <a:ln w="15875">
            <a:solidFill>
              <a:srgbClr val="38BDF8"/>
            </a:solidFill>
            <a:prstDash val="solid"/>
          </a:ln>
        </p:spPr>
      </p:sp>
      <p:sp>
        <p:nvSpPr>
          <p:cNvPr id="4" name="Text 2"/>
          <p:cNvSpPr/>
          <p:nvPr/>
        </p:nvSpPr>
        <p:spPr>
          <a:xfrm>
            <a:off x="548640" y="1371600"/>
            <a:ext cx="1645920" cy="777240"/>
          </a:xfrm>
          <a:prstGeom prst="rect">
            <a:avLst/>
          </a:prstGeom>
          <a:noFill/>
          <a:ln/>
        </p:spPr>
        <p:txBody>
          <a:bodyPr wrap="square" lIns="635" tIns="635" rIns="635" bIns="635" rtlCol="0" anchor="ctr"/>
          <a:lstStyle/>
          <a:p>
            <a:pPr algn="ctr" indent="0" marL="0">
              <a:buNone/>
            </a:pPr>
            <a:r>
              <a:rPr lang="en-US" sz="1350" b="1" dirty="0">
                <a:solidFill>
                  <a:srgbClr val="E7ECFF"/>
                </a:solidFill>
                <a:latin typeface="Calibri" pitchFamily="34" charset="0"/>
                <a:ea typeface="Calibri" pitchFamily="34" charset="-122"/>
                <a:cs typeface="Calibri" pitchFamily="34" charset="-120"/>
              </a:rPr>
              <a:t>Submitted</a:t>
            </a:r>
            <a:endParaRPr lang="en-US" sz="1350" dirty="0"/>
          </a:p>
        </p:txBody>
      </p:sp>
      <p:sp>
        <p:nvSpPr>
          <p:cNvPr id="5" name="Text 3"/>
          <p:cNvSpPr/>
          <p:nvPr/>
        </p:nvSpPr>
        <p:spPr>
          <a:xfrm>
            <a:off x="2199132" y="1481328"/>
            <a:ext cx="219456" cy="548640"/>
          </a:xfrm>
          <a:prstGeom prst="rect">
            <a:avLst/>
          </a:prstGeom>
          <a:noFill/>
          <a:ln/>
        </p:spPr>
        <p:txBody>
          <a:bodyPr wrap="square" lIns="0" tIns="0" rIns="0" bIns="0" rtlCol="0" anchor="ctr"/>
          <a:lstStyle/>
          <a:p>
            <a:pPr algn="ctr" indent="0" marL="0">
              <a:buNone/>
            </a:pPr>
            <a:r>
              <a:rPr lang="en-US" sz="1600" dirty="0">
                <a:solidFill>
                  <a:srgbClr val="5B7BFF"/>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2423160" y="1371600"/>
            <a:ext cx="1645920" cy="777240"/>
          </a:xfrm>
          <a:prstGeom prst="roundRect">
            <a:avLst>
              <a:gd name="adj" fmla="val 14118"/>
            </a:avLst>
          </a:prstGeom>
          <a:solidFill>
            <a:srgbClr val="141A33"/>
          </a:solidFill>
          <a:ln w="15875">
            <a:solidFill>
              <a:srgbClr val="C98500"/>
            </a:solidFill>
            <a:prstDash val="solid"/>
          </a:ln>
        </p:spPr>
      </p:sp>
      <p:sp>
        <p:nvSpPr>
          <p:cNvPr id="7" name="Text 5"/>
          <p:cNvSpPr/>
          <p:nvPr/>
        </p:nvSpPr>
        <p:spPr>
          <a:xfrm>
            <a:off x="2423160" y="1371600"/>
            <a:ext cx="1645920" cy="777240"/>
          </a:xfrm>
          <a:prstGeom prst="rect">
            <a:avLst/>
          </a:prstGeom>
          <a:noFill/>
          <a:ln/>
        </p:spPr>
        <p:txBody>
          <a:bodyPr wrap="square" lIns="635" tIns="635" rIns="635" bIns="635" rtlCol="0" anchor="ctr"/>
          <a:lstStyle/>
          <a:p>
            <a:pPr algn="ctr" indent="0" marL="0">
              <a:buNone/>
            </a:pPr>
            <a:r>
              <a:rPr lang="en-US" sz="1350" b="1" dirty="0">
                <a:solidFill>
                  <a:srgbClr val="E7ECFF"/>
                </a:solidFill>
                <a:latin typeface="Calibri" pitchFamily="34" charset="0"/>
                <a:ea typeface="Calibri" pitchFamily="34" charset="-122"/>
                <a:cs typeface="Calibri" pitchFamily="34" charset="-120"/>
              </a:rPr>
              <a:t>Under Review</a:t>
            </a:r>
            <a:endParaRPr lang="en-US" sz="1350" dirty="0"/>
          </a:p>
        </p:txBody>
      </p:sp>
      <p:sp>
        <p:nvSpPr>
          <p:cNvPr id="8" name="Text 6"/>
          <p:cNvSpPr/>
          <p:nvPr/>
        </p:nvSpPr>
        <p:spPr>
          <a:xfrm>
            <a:off x="4073652" y="1481328"/>
            <a:ext cx="219456" cy="548640"/>
          </a:xfrm>
          <a:prstGeom prst="rect">
            <a:avLst/>
          </a:prstGeom>
          <a:noFill/>
          <a:ln/>
        </p:spPr>
        <p:txBody>
          <a:bodyPr wrap="square" lIns="0" tIns="0" rIns="0" bIns="0" rtlCol="0" anchor="ctr"/>
          <a:lstStyle/>
          <a:p>
            <a:pPr algn="ctr" indent="0" marL="0">
              <a:buNone/>
            </a:pPr>
            <a:r>
              <a:rPr lang="en-US" sz="1600" dirty="0">
                <a:solidFill>
                  <a:srgbClr val="5B7BFF"/>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4297680" y="1371600"/>
            <a:ext cx="1645920" cy="777240"/>
          </a:xfrm>
          <a:prstGeom prst="roundRect">
            <a:avLst>
              <a:gd name="adj" fmla="val 14118"/>
            </a:avLst>
          </a:prstGeom>
          <a:solidFill>
            <a:srgbClr val="141A33"/>
          </a:solidFill>
          <a:ln w="15875">
            <a:solidFill>
              <a:srgbClr val="D55181"/>
            </a:solidFill>
            <a:prstDash val="solid"/>
          </a:ln>
        </p:spPr>
      </p:sp>
      <p:sp>
        <p:nvSpPr>
          <p:cNvPr id="10" name="Text 8"/>
          <p:cNvSpPr/>
          <p:nvPr/>
        </p:nvSpPr>
        <p:spPr>
          <a:xfrm>
            <a:off x="4297680" y="1371600"/>
            <a:ext cx="1645920" cy="777240"/>
          </a:xfrm>
          <a:prstGeom prst="rect">
            <a:avLst/>
          </a:prstGeom>
          <a:noFill/>
          <a:ln/>
        </p:spPr>
        <p:txBody>
          <a:bodyPr wrap="square" lIns="635" tIns="635" rIns="635" bIns="635" rtlCol="0" anchor="ctr"/>
          <a:lstStyle/>
          <a:p>
            <a:pPr algn="ctr" indent="0" marL="0">
              <a:buNone/>
            </a:pPr>
            <a:r>
              <a:rPr lang="en-US" sz="1350" b="1" dirty="0">
                <a:solidFill>
                  <a:srgbClr val="E7ECFF"/>
                </a:solidFill>
                <a:latin typeface="Calibri" pitchFamily="34" charset="0"/>
                <a:ea typeface="Calibri" pitchFamily="34" charset="-122"/>
                <a:cs typeface="Calibri" pitchFamily="34" charset="-120"/>
              </a:rPr>
              <a:t>In Progress</a:t>
            </a:r>
            <a:endParaRPr lang="en-US" sz="1350" dirty="0"/>
          </a:p>
        </p:txBody>
      </p:sp>
      <p:sp>
        <p:nvSpPr>
          <p:cNvPr id="11" name="Text 9"/>
          <p:cNvSpPr/>
          <p:nvPr/>
        </p:nvSpPr>
        <p:spPr>
          <a:xfrm>
            <a:off x="5948172" y="1481328"/>
            <a:ext cx="219456" cy="548640"/>
          </a:xfrm>
          <a:prstGeom prst="rect">
            <a:avLst/>
          </a:prstGeom>
          <a:noFill/>
          <a:ln/>
        </p:spPr>
        <p:txBody>
          <a:bodyPr wrap="square" lIns="0" tIns="0" rIns="0" bIns="0" rtlCol="0" anchor="ctr"/>
          <a:lstStyle/>
          <a:p>
            <a:pPr algn="ctr" indent="0" marL="0">
              <a:buNone/>
            </a:pPr>
            <a:r>
              <a:rPr lang="en-US" sz="1600" dirty="0">
                <a:solidFill>
                  <a:srgbClr val="5B7BFF"/>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6172200" y="1371600"/>
            <a:ext cx="1645920" cy="777240"/>
          </a:xfrm>
          <a:prstGeom prst="roundRect">
            <a:avLst>
              <a:gd name="adj" fmla="val 14118"/>
            </a:avLst>
          </a:prstGeom>
          <a:solidFill>
            <a:srgbClr val="141A33"/>
          </a:solidFill>
          <a:ln w="15875">
            <a:solidFill>
              <a:srgbClr val="34D399"/>
            </a:solidFill>
            <a:prstDash val="solid"/>
          </a:ln>
        </p:spPr>
      </p:sp>
      <p:sp>
        <p:nvSpPr>
          <p:cNvPr id="13" name="Text 11"/>
          <p:cNvSpPr/>
          <p:nvPr/>
        </p:nvSpPr>
        <p:spPr>
          <a:xfrm>
            <a:off x="6172200" y="1371600"/>
            <a:ext cx="1645920" cy="777240"/>
          </a:xfrm>
          <a:prstGeom prst="rect">
            <a:avLst/>
          </a:prstGeom>
          <a:noFill/>
          <a:ln/>
        </p:spPr>
        <p:txBody>
          <a:bodyPr wrap="square" lIns="635" tIns="635" rIns="635" bIns="635" rtlCol="0" anchor="ctr"/>
          <a:lstStyle/>
          <a:p>
            <a:pPr algn="ctr" indent="0" marL="0">
              <a:buNone/>
            </a:pPr>
            <a:r>
              <a:rPr lang="en-US" sz="1350" b="1" dirty="0">
                <a:solidFill>
                  <a:srgbClr val="E7ECFF"/>
                </a:solidFill>
                <a:latin typeface="Calibri" pitchFamily="34" charset="0"/>
                <a:ea typeface="Calibri" pitchFamily="34" charset="-122"/>
                <a:cs typeface="Calibri" pitchFamily="34" charset="-120"/>
              </a:rPr>
              <a:t>Resolved</a:t>
            </a:r>
            <a:endParaRPr lang="en-US" sz="1350" dirty="0"/>
          </a:p>
        </p:txBody>
      </p:sp>
      <p:sp>
        <p:nvSpPr>
          <p:cNvPr id="14" name="Text 12"/>
          <p:cNvSpPr/>
          <p:nvPr/>
        </p:nvSpPr>
        <p:spPr>
          <a:xfrm>
            <a:off x="7822692" y="1481328"/>
            <a:ext cx="219456" cy="548640"/>
          </a:xfrm>
          <a:prstGeom prst="rect">
            <a:avLst/>
          </a:prstGeom>
          <a:noFill/>
          <a:ln/>
        </p:spPr>
        <p:txBody>
          <a:bodyPr wrap="square" lIns="0" tIns="0" rIns="0" bIns="0" rtlCol="0" anchor="ctr"/>
          <a:lstStyle/>
          <a:p>
            <a:pPr algn="ctr" indent="0" marL="0">
              <a:buNone/>
            </a:pPr>
            <a:r>
              <a:rPr lang="en-US" sz="1600" dirty="0">
                <a:solidFill>
                  <a:srgbClr val="5B7BFF"/>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8229600" y="1371600"/>
            <a:ext cx="3401568" cy="777240"/>
          </a:xfrm>
          <a:prstGeom prst="roundRect">
            <a:avLst>
              <a:gd name="adj" fmla="val 14118"/>
            </a:avLst>
          </a:prstGeom>
          <a:solidFill>
            <a:srgbClr val="141A33"/>
          </a:solidFill>
          <a:ln w="15875">
            <a:solidFill>
              <a:srgbClr val="5B7BFF"/>
            </a:solidFill>
            <a:prstDash val="solid"/>
          </a:ln>
        </p:spPr>
      </p:sp>
      <p:sp>
        <p:nvSpPr>
          <p:cNvPr id="16" name="Text 14"/>
          <p:cNvSpPr/>
          <p:nvPr/>
        </p:nvSpPr>
        <p:spPr>
          <a:xfrm>
            <a:off x="8229600" y="1371600"/>
            <a:ext cx="3401568" cy="777240"/>
          </a:xfrm>
          <a:prstGeom prst="rect">
            <a:avLst/>
          </a:prstGeom>
          <a:noFill/>
          <a:ln/>
        </p:spPr>
        <p:txBody>
          <a:bodyPr wrap="square" lIns="635" tIns="635" rIns="635" bIns="635" rtlCol="0" anchor="ctr"/>
          <a:lstStyle/>
          <a:p>
            <a:pPr algn="ctr" indent="0" marL="0">
              <a:buNone/>
            </a:pPr>
            <a:r>
              <a:rPr lang="en-US" sz="1300" b="1" dirty="0">
                <a:solidFill>
                  <a:srgbClr val="E7ECFF"/>
                </a:solidFill>
                <a:latin typeface="Calibri" pitchFamily="34" charset="0"/>
                <a:ea typeface="Calibri" pitchFamily="34" charset="-122"/>
                <a:cs typeface="Calibri" pitchFamily="34" charset="-120"/>
              </a:rPr>
              <a:t>Citizen confirms ✓  /  reopens ↩</a:t>
            </a:r>
            <a:endParaRPr lang="en-US" sz="1300" dirty="0"/>
          </a:p>
        </p:txBody>
      </p:sp>
      <p:sp>
        <p:nvSpPr>
          <p:cNvPr id="17" name="Shape 15"/>
          <p:cNvSpPr/>
          <p:nvPr/>
        </p:nvSpPr>
        <p:spPr>
          <a:xfrm>
            <a:off x="548640" y="2743200"/>
            <a:ext cx="3611880" cy="3383280"/>
          </a:xfrm>
          <a:prstGeom prst="roundRect">
            <a:avLst>
              <a:gd name="adj" fmla="val 3243"/>
            </a:avLst>
          </a:prstGeom>
          <a:solidFill>
            <a:srgbClr val="141A33"/>
          </a:solidFill>
          <a:ln w="15875">
            <a:solidFill>
              <a:srgbClr val="38BDF8"/>
            </a:solidFill>
            <a:prstDash val="solid"/>
          </a:ln>
        </p:spPr>
      </p:sp>
      <p:sp>
        <p:nvSpPr>
          <p:cNvPr id="18" name="Shape 16"/>
          <p:cNvSpPr/>
          <p:nvPr/>
        </p:nvSpPr>
        <p:spPr>
          <a:xfrm>
            <a:off x="868680" y="3063240"/>
            <a:ext cx="566928" cy="566928"/>
          </a:xfrm>
          <a:prstGeom prst="ellipse">
            <a:avLst/>
          </a:prstGeom>
          <a:solidFill>
            <a:srgbClr val="38BDF8">
              <a:alpha val="22000"/>
            </a:srgbClr>
          </a:solidFill>
          <a:ln w="15875">
            <a:solidFill>
              <a:srgbClr val="38BDF8"/>
            </a:solidFill>
            <a:prstDash val="solid"/>
          </a:ln>
        </p:spPr>
      </p:sp>
      <p:sp>
        <p:nvSpPr>
          <p:cNvPr id="19" name="Text 17"/>
          <p:cNvSpPr/>
          <p:nvPr/>
        </p:nvSpPr>
        <p:spPr>
          <a:xfrm>
            <a:off x="786384" y="30449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1600200" y="3127248"/>
            <a:ext cx="2468880" cy="640080"/>
          </a:xfrm>
          <a:prstGeom prst="rect">
            <a:avLst/>
          </a:prstGeom>
          <a:noFill/>
          <a:ln/>
        </p:spPr>
        <p:txBody>
          <a:bodyPr wrap="square" lIns="0" tIns="0" rIns="0" bIns="0" rtlCol="0" anchor="ctr"/>
          <a:lstStyle/>
          <a:p>
            <a:pPr indent="0" marL="0">
              <a:lnSpc>
                <a:spcPts val="1900"/>
              </a:lnSpc>
              <a:buNone/>
            </a:pPr>
            <a:r>
              <a:rPr lang="en-US" sz="1600" b="1" dirty="0">
                <a:solidFill>
                  <a:srgbClr val="E7ECFF"/>
                </a:solidFill>
                <a:latin typeface="Calibri" pitchFamily="34" charset="0"/>
                <a:ea typeface="Calibri" pitchFamily="34" charset="-122"/>
                <a:cs typeface="Calibri" pitchFamily="34" charset="-120"/>
              </a:rPr>
              <a:t>Immutable status history</a:t>
            </a:r>
            <a:endParaRPr lang="en-US" sz="1600" dirty="0"/>
          </a:p>
        </p:txBody>
      </p:sp>
      <p:sp>
        <p:nvSpPr>
          <p:cNvPr id="21" name="Text 19"/>
          <p:cNvSpPr/>
          <p:nvPr/>
        </p:nvSpPr>
        <p:spPr>
          <a:xfrm>
            <a:off x="868680" y="3977640"/>
            <a:ext cx="3017520" cy="201168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Every transition audited: who (citizen or administration), old → new status, note, photo, timestamp. The reporter sees the full trail — nothing disappears.</a:t>
            </a:r>
            <a:endParaRPr lang="en-US" sz="1250" dirty="0"/>
          </a:p>
        </p:txBody>
      </p:sp>
      <p:sp>
        <p:nvSpPr>
          <p:cNvPr id="22" name="Shape 20"/>
          <p:cNvSpPr/>
          <p:nvPr/>
        </p:nvSpPr>
        <p:spPr>
          <a:xfrm>
            <a:off x="4434840" y="2743200"/>
            <a:ext cx="3611880" cy="3383280"/>
          </a:xfrm>
          <a:prstGeom prst="roundRect">
            <a:avLst>
              <a:gd name="adj" fmla="val 3243"/>
            </a:avLst>
          </a:prstGeom>
          <a:solidFill>
            <a:srgbClr val="141A33"/>
          </a:solidFill>
          <a:ln w="15875">
            <a:solidFill>
              <a:srgbClr val="34D399"/>
            </a:solidFill>
            <a:prstDash val="solid"/>
          </a:ln>
        </p:spPr>
      </p:sp>
      <p:sp>
        <p:nvSpPr>
          <p:cNvPr id="23" name="Shape 21"/>
          <p:cNvSpPr/>
          <p:nvPr/>
        </p:nvSpPr>
        <p:spPr>
          <a:xfrm>
            <a:off x="4754880" y="3063240"/>
            <a:ext cx="566928" cy="566928"/>
          </a:xfrm>
          <a:prstGeom prst="ellipse">
            <a:avLst/>
          </a:prstGeom>
          <a:solidFill>
            <a:srgbClr val="34D399">
              <a:alpha val="22000"/>
            </a:srgbClr>
          </a:solidFill>
          <a:ln w="15875">
            <a:solidFill>
              <a:srgbClr val="34D399"/>
            </a:solidFill>
            <a:prstDash val="solid"/>
          </a:ln>
        </p:spPr>
      </p:sp>
      <p:sp>
        <p:nvSpPr>
          <p:cNvPr id="24" name="Text 22"/>
          <p:cNvSpPr/>
          <p:nvPr/>
        </p:nvSpPr>
        <p:spPr>
          <a:xfrm>
            <a:off x="4672584" y="30449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5486400" y="3127248"/>
            <a:ext cx="2468880" cy="640080"/>
          </a:xfrm>
          <a:prstGeom prst="rect">
            <a:avLst/>
          </a:prstGeom>
          <a:noFill/>
          <a:ln/>
        </p:spPr>
        <p:txBody>
          <a:bodyPr wrap="square" lIns="0" tIns="0" rIns="0" bIns="0" rtlCol="0" anchor="ctr"/>
          <a:lstStyle/>
          <a:p>
            <a:pPr indent="0" marL="0">
              <a:lnSpc>
                <a:spcPts val="1900"/>
              </a:lnSpc>
              <a:buNone/>
            </a:pPr>
            <a:r>
              <a:rPr lang="en-US" sz="1600" b="1" dirty="0">
                <a:solidFill>
                  <a:srgbClr val="E7ECFF"/>
                </a:solidFill>
                <a:latin typeface="Calibri" pitchFamily="34" charset="0"/>
                <a:ea typeface="Calibri" pitchFamily="34" charset="-122"/>
                <a:cs typeface="Calibri" pitchFamily="34" charset="-120"/>
              </a:rPr>
              <a:t>Resolution evidence</a:t>
            </a:r>
            <a:endParaRPr lang="en-US" sz="1600" dirty="0"/>
          </a:p>
        </p:txBody>
      </p:sp>
      <p:sp>
        <p:nvSpPr>
          <p:cNvPr id="26" name="Text 24"/>
          <p:cNvSpPr/>
          <p:nvPr/>
        </p:nvSpPr>
        <p:spPr>
          <a:xfrm>
            <a:off x="4754880" y="3977640"/>
            <a:ext cx="3017520" cy="201168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Admins attach resolution notes and proof-of-resolution photos, organized per department queue. AI cross-checks the proof photo against the original problem.</a:t>
            </a:r>
            <a:endParaRPr lang="en-US" sz="1250" dirty="0"/>
          </a:p>
        </p:txBody>
      </p:sp>
      <p:sp>
        <p:nvSpPr>
          <p:cNvPr id="27" name="Shape 25"/>
          <p:cNvSpPr/>
          <p:nvPr/>
        </p:nvSpPr>
        <p:spPr>
          <a:xfrm>
            <a:off x="8321040" y="2743200"/>
            <a:ext cx="3611880" cy="3383280"/>
          </a:xfrm>
          <a:prstGeom prst="roundRect">
            <a:avLst>
              <a:gd name="adj" fmla="val 3243"/>
            </a:avLst>
          </a:prstGeom>
          <a:solidFill>
            <a:srgbClr val="141A33"/>
          </a:solidFill>
          <a:ln w="15875">
            <a:solidFill>
              <a:srgbClr val="5B7BFF"/>
            </a:solidFill>
            <a:prstDash val="solid"/>
          </a:ln>
        </p:spPr>
      </p:sp>
      <p:sp>
        <p:nvSpPr>
          <p:cNvPr id="28" name="Shape 26"/>
          <p:cNvSpPr/>
          <p:nvPr/>
        </p:nvSpPr>
        <p:spPr>
          <a:xfrm>
            <a:off x="8641080" y="3063240"/>
            <a:ext cx="566928" cy="566928"/>
          </a:xfrm>
          <a:prstGeom prst="ellipse">
            <a:avLst/>
          </a:prstGeom>
          <a:solidFill>
            <a:srgbClr val="5B7BFF">
              <a:alpha val="22000"/>
            </a:srgbClr>
          </a:solidFill>
          <a:ln w="15875">
            <a:solidFill>
              <a:srgbClr val="5B7BFF"/>
            </a:solidFill>
            <a:prstDash val="solid"/>
          </a:ln>
        </p:spPr>
      </p:sp>
      <p:sp>
        <p:nvSpPr>
          <p:cNvPr id="29" name="Text 27"/>
          <p:cNvSpPr/>
          <p:nvPr/>
        </p:nvSpPr>
        <p:spPr>
          <a:xfrm>
            <a:off x="8558784" y="30449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9372600" y="3127248"/>
            <a:ext cx="2468880" cy="640080"/>
          </a:xfrm>
          <a:prstGeom prst="rect">
            <a:avLst/>
          </a:prstGeom>
          <a:noFill/>
          <a:ln/>
        </p:spPr>
        <p:txBody>
          <a:bodyPr wrap="square" lIns="0" tIns="0" rIns="0" bIns="0" rtlCol="0" anchor="ctr"/>
          <a:lstStyle/>
          <a:p>
            <a:pPr indent="0" marL="0">
              <a:lnSpc>
                <a:spcPts val="1900"/>
              </a:lnSpc>
              <a:buNone/>
            </a:pPr>
            <a:r>
              <a:rPr lang="en-US" sz="1600" b="1" dirty="0">
                <a:solidFill>
                  <a:srgbClr val="E7ECFF"/>
                </a:solidFill>
                <a:latin typeface="Calibri" pitchFamily="34" charset="0"/>
                <a:ea typeface="Calibri" pitchFamily="34" charset="-122"/>
                <a:cs typeface="Calibri" pitchFamily="34" charset="-120"/>
              </a:rPr>
              <a:t>The reporter gets the last word</a:t>
            </a:r>
            <a:endParaRPr lang="en-US" sz="1600" dirty="0"/>
          </a:p>
        </p:txBody>
      </p:sp>
      <p:sp>
        <p:nvSpPr>
          <p:cNvPr id="31" name="Text 29"/>
          <p:cNvSpPr/>
          <p:nvPr/>
        </p:nvSpPr>
        <p:spPr>
          <a:xfrm>
            <a:off x="8641080" y="3977640"/>
            <a:ext cx="3017520" cy="201168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Once resolved, the citizen is asked: “does it look fixed to you?” Confirming closes the loop; reopening reopens the whole case — for every reporter linked to it.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See the whole city at a glance</a:t>
            </a:r>
            <a:endParaRPr lang="en-US" sz="3400" dirty="0"/>
          </a:p>
        </p:txBody>
      </p:sp>
      <p:sp>
        <p:nvSpPr>
          <p:cNvPr id="3" name="Shape 1"/>
          <p:cNvSpPr/>
          <p:nvPr/>
        </p:nvSpPr>
        <p:spPr>
          <a:xfrm>
            <a:off x="548640" y="1371600"/>
            <a:ext cx="5577840" cy="4846320"/>
          </a:xfrm>
          <a:prstGeom prst="roundRect">
            <a:avLst>
              <a:gd name="adj" fmla="val 2264"/>
            </a:avLst>
          </a:prstGeom>
          <a:solidFill>
            <a:srgbClr val="141A33"/>
          </a:solidFill>
          <a:ln w="15875">
            <a:solidFill>
              <a:srgbClr val="38BDF8"/>
            </a:solidFill>
            <a:prstDash val="solid"/>
          </a:ln>
        </p:spPr>
      </p:sp>
      <p:sp>
        <p:nvSpPr>
          <p:cNvPr id="4" name="Shape 2"/>
          <p:cNvSpPr/>
          <p:nvPr/>
        </p:nvSpPr>
        <p:spPr>
          <a:xfrm>
            <a:off x="868680" y="1691640"/>
            <a:ext cx="566928" cy="566928"/>
          </a:xfrm>
          <a:prstGeom prst="ellipse">
            <a:avLst/>
          </a:prstGeom>
          <a:solidFill>
            <a:srgbClr val="38BDF8">
              <a:alpha val="22000"/>
            </a:srgbClr>
          </a:solidFill>
          <a:ln w="15875">
            <a:solidFill>
              <a:srgbClr val="38BDF8"/>
            </a:solidFill>
            <a:prstDash val="solid"/>
          </a:ln>
        </p:spPr>
      </p:sp>
      <p:sp>
        <p:nvSpPr>
          <p:cNvPr id="5" name="Text 3"/>
          <p:cNvSpPr/>
          <p:nvPr/>
        </p:nvSpPr>
        <p:spPr>
          <a:xfrm>
            <a:off x="786384" y="16733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600200" y="1764792"/>
            <a:ext cx="42976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Live city map — citizens &amp; admins</a:t>
            </a:r>
            <a:endParaRPr lang="en-US" sz="1700" dirty="0"/>
          </a:p>
        </p:txBody>
      </p:sp>
      <p:sp>
        <p:nvSpPr>
          <p:cNvPr id="7" name="Text 5"/>
          <p:cNvSpPr/>
          <p:nvPr/>
        </p:nvSpPr>
        <p:spPr>
          <a:xfrm>
            <a:off x="868680" y="2377440"/>
            <a:ext cx="4983480" cy="365760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Every active case is an emoji pin, color-coded by status or category (toggle)</a:t>
            </a:r>
            <a:endParaRPr lang="en-US" sz="1300" dirty="0"/>
          </a:p>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Popups: report count, department, tracking ID, date</a:t>
            </a:r>
            <a:endParaRPr lang="en-US" sz="1300" dirty="0"/>
          </a:p>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Citizens upvote problems that affect them — votes feed priority; reporters can’t double-dip their own case</a:t>
            </a:r>
            <a:endParaRPr lang="en-US" sz="1300" dirty="0"/>
          </a:p>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Resolved pins dim, rejected pins hollow — state never rides on hue alone (CVD-validated palette)</a:t>
            </a:r>
            <a:endParaRPr lang="en-US" sz="1300" dirty="0"/>
          </a:p>
          <a:p>
            <a:pPr marL="342900" indent="-342900">
              <a:lnSpc>
                <a:spcPts val="1900"/>
              </a:lnSpc>
              <a:buSzPct val="100000"/>
              <a:buChar char="•"/>
            </a:pPr>
            <a:r>
              <a:rPr lang="en-US" sz="1300" dirty="0">
                <a:solidFill>
                  <a:srgbClr val="9FA8D6"/>
                </a:solidFill>
                <a:latin typeface="Calibri" pitchFamily="34" charset="0"/>
                <a:ea typeface="Calibri" pitchFamily="34" charset="-122"/>
                <a:cs typeface="Calibri" pitchFamily="34" charset="-120"/>
              </a:rPr>
              <a:t>Dark CARTO tiles for the admin theme, light OSM for citizens</a:t>
            </a:r>
            <a:endParaRPr lang="en-US" sz="1300" dirty="0"/>
          </a:p>
        </p:txBody>
      </p:sp>
      <p:sp>
        <p:nvSpPr>
          <p:cNvPr id="8" name="Shape 6"/>
          <p:cNvSpPr/>
          <p:nvPr/>
        </p:nvSpPr>
        <p:spPr>
          <a:xfrm>
            <a:off x="6492240" y="1371600"/>
            <a:ext cx="5120640" cy="4846320"/>
          </a:xfrm>
          <a:prstGeom prst="roundRect">
            <a:avLst>
              <a:gd name="adj" fmla="val 2264"/>
            </a:avLst>
          </a:prstGeom>
          <a:solidFill>
            <a:srgbClr val="141A33"/>
          </a:solidFill>
          <a:ln w="15875">
            <a:solidFill>
              <a:srgbClr val="D55181"/>
            </a:solidFill>
            <a:prstDash val="solid"/>
          </a:ln>
        </p:spPr>
      </p:sp>
      <p:sp>
        <p:nvSpPr>
          <p:cNvPr id="9" name="Shape 7"/>
          <p:cNvSpPr/>
          <p:nvPr/>
        </p:nvSpPr>
        <p:spPr>
          <a:xfrm>
            <a:off x="6812280" y="1691640"/>
            <a:ext cx="566928" cy="566928"/>
          </a:xfrm>
          <a:prstGeom prst="ellipse">
            <a:avLst/>
          </a:prstGeom>
          <a:solidFill>
            <a:srgbClr val="D55181">
              <a:alpha val="22000"/>
            </a:srgbClr>
          </a:solidFill>
          <a:ln w="15875">
            <a:solidFill>
              <a:srgbClr val="D55181"/>
            </a:solidFill>
            <a:prstDash val="solid"/>
          </a:ln>
        </p:spPr>
      </p:sp>
      <p:sp>
        <p:nvSpPr>
          <p:cNvPr id="10" name="Text 8"/>
          <p:cNvSpPr/>
          <p:nvPr/>
        </p:nvSpPr>
        <p:spPr>
          <a:xfrm>
            <a:off x="6729984" y="167335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7543800" y="1764792"/>
            <a:ext cx="393192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Analytics — 100% real data</a:t>
            </a:r>
            <a:endParaRPr lang="en-US" sz="1700" dirty="0"/>
          </a:p>
        </p:txBody>
      </p:sp>
      <p:sp>
        <p:nvSpPr>
          <p:cNvPr id="12" name="Text 10"/>
          <p:cNvSpPr/>
          <p:nvPr/>
        </p:nvSpPr>
        <p:spPr>
          <a:xfrm>
            <a:off x="6812280" y="2377440"/>
            <a:ext cx="4572000" cy="365760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Splits by category, status and department, computed live on every load</a:t>
            </a:r>
            <a:endParaRPr lang="en-US" sz="1300" dirty="0"/>
          </a:p>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Average resolution time — overall and per department comparison table</a:t>
            </a:r>
            <a:endParaRPr lang="en-US" sz="1300" dirty="0"/>
          </a:p>
          <a:p>
            <a:pPr marL="342900" indent="-342900">
              <a:lnSpc>
                <a:spcPts val="1900"/>
              </a:lnSpc>
              <a:spcAft>
                <a:spcPts val="1000"/>
              </a:spcAft>
              <a:buSzPct val="100000"/>
              <a:buChar char="•"/>
            </a:pPr>
            <a:r>
              <a:rPr lang="en-US" sz="1300" dirty="0">
                <a:solidFill>
                  <a:srgbClr val="9FA8D6"/>
                </a:solidFill>
                <a:latin typeface="Calibri" pitchFamily="34" charset="0"/>
                <a:ea typeface="Calibri" pitchFamily="34" charset="-122"/>
                <a:cs typeface="Calibri" pitchFamily="34" charset="-120"/>
              </a:rPr>
              <a:t>Hotspot detection: ~110 m map cells that keep collecting reports, ranked by volume</a:t>
            </a:r>
            <a:endParaRPr lang="en-US" sz="1300" dirty="0"/>
          </a:p>
          <a:p>
            <a:pPr marL="342900" indent="-342900">
              <a:lnSpc>
                <a:spcPts val="1900"/>
              </a:lnSpc>
              <a:buSzPct val="100000"/>
              <a:buChar char="•"/>
            </a:pPr>
            <a:r>
              <a:rPr lang="en-US" sz="1300" dirty="0">
                <a:solidFill>
                  <a:srgbClr val="9FA8D6"/>
                </a:solidFill>
                <a:latin typeface="Calibri" pitchFamily="34" charset="0"/>
                <a:ea typeface="Calibri" pitchFamily="34" charset="-122"/>
                <a:cs typeface="Calibri" pitchFamily="34" charset="-120"/>
              </a:rPr>
              <a:t>Hand-built SVG donut &amp; bar charts sharing the map’s color language — no chart library, no fake numbers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Beyond the brief</a:t>
            </a:r>
            <a:endParaRPr lang="en-US" sz="3400" dirty="0"/>
          </a:p>
        </p:txBody>
      </p:sp>
      <p:sp>
        <p:nvSpPr>
          <p:cNvPr id="3" name="Shape 1"/>
          <p:cNvSpPr/>
          <p:nvPr/>
        </p:nvSpPr>
        <p:spPr>
          <a:xfrm>
            <a:off x="548640" y="1371600"/>
            <a:ext cx="5577840" cy="2240280"/>
          </a:xfrm>
          <a:prstGeom prst="roundRect">
            <a:avLst>
              <a:gd name="adj" fmla="val 4898"/>
            </a:avLst>
          </a:prstGeom>
          <a:solidFill>
            <a:srgbClr val="141A33"/>
          </a:solidFill>
          <a:ln w="15875">
            <a:solidFill>
              <a:srgbClr val="34D399"/>
            </a:solidFill>
            <a:prstDash val="solid"/>
          </a:ln>
        </p:spPr>
      </p:sp>
      <p:sp>
        <p:nvSpPr>
          <p:cNvPr id="4" name="Shape 2"/>
          <p:cNvSpPr/>
          <p:nvPr/>
        </p:nvSpPr>
        <p:spPr>
          <a:xfrm>
            <a:off x="868680" y="1645920"/>
            <a:ext cx="566928" cy="566928"/>
          </a:xfrm>
          <a:prstGeom prst="ellipse">
            <a:avLst/>
          </a:prstGeom>
          <a:solidFill>
            <a:srgbClr val="34D399">
              <a:alpha val="22000"/>
            </a:srgbClr>
          </a:solidFill>
          <a:ln w="15875">
            <a:solidFill>
              <a:srgbClr val="34D399"/>
            </a:solidFill>
            <a:prstDash val="solid"/>
          </a:ln>
        </p:spPr>
      </p:sp>
      <p:sp>
        <p:nvSpPr>
          <p:cNvPr id="5" name="Text 3"/>
          <p:cNvSpPr/>
          <p:nvPr/>
        </p:nvSpPr>
        <p:spPr>
          <a:xfrm>
            <a:off x="786384" y="162763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600200" y="1719072"/>
            <a:ext cx="42976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Public transparency score</a:t>
            </a:r>
            <a:endParaRPr lang="en-US" sz="1700" dirty="0"/>
          </a:p>
        </p:txBody>
      </p:sp>
      <p:sp>
        <p:nvSpPr>
          <p:cNvPr id="7" name="Text 5"/>
          <p:cNvSpPr/>
          <p:nvPr/>
        </p:nvSpPr>
        <p:spPr>
          <a:xfrm>
            <a:off x="868680" y="2286000"/>
            <a:ext cx="4983480" cy="118872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No-login report card grades every department A+ to D: 50% resolution rate + 30% within-SLA + 20% speed. Methodology printed on the page.</a:t>
            </a:r>
            <a:endParaRPr lang="en-US" sz="1250" dirty="0"/>
          </a:p>
        </p:txBody>
      </p:sp>
      <p:sp>
        <p:nvSpPr>
          <p:cNvPr id="8" name="Shape 6"/>
          <p:cNvSpPr/>
          <p:nvPr/>
        </p:nvSpPr>
        <p:spPr>
          <a:xfrm>
            <a:off x="6492240" y="1371600"/>
            <a:ext cx="5577840" cy="2240280"/>
          </a:xfrm>
          <a:prstGeom prst="roundRect">
            <a:avLst>
              <a:gd name="adj" fmla="val 4898"/>
            </a:avLst>
          </a:prstGeom>
          <a:solidFill>
            <a:srgbClr val="141A33"/>
          </a:solidFill>
          <a:ln w="15875">
            <a:solidFill>
              <a:srgbClr val="38BDF8"/>
            </a:solidFill>
            <a:prstDash val="solid"/>
          </a:ln>
        </p:spPr>
      </p:sp>
      <p:sp>
        <p:nvSpPr>
          <p:cNvPr id="9" name="Shape 7"/>
          <p:cNvSpPr/>
          <p:nvPr/>
        </p:nvSpPr>
        <p:spPr>
          <a:xfrm>
            <a:off x="6812280" y="1645920"/>
            <a:ext cx="566928" cy="566928"/>
          </a:xfrm>
          <a:prstGeom prst="ellipse">
            <a:avLst/>
          </a:prstGeom>
          <a:solidFill>
            <a:srgbClr val="38BDF8">
              <a:alpha val="22000"/>
            </a:srgbClr>
          </a:solidFill>
          <a:ln w="15875">
            <a:solidFill>
              <a:srgbClr val="38BDF8"/>
            </a:solidFill>
            <a:prstDash val="solid"/>
          </a:ln>
        </p:spPr>
      </p:sp>
      <p:sp>
        <p:nvSpPr>
          <p:cNvPr id="10" name="Text 8"/>
          <p:cNvSpPr/>
          <p:nvPr/>
        </p:nvSpPr>
        <p:spPr>
          <a:xfrm>
            <a:off x="6729984" y="162763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7543800" y="1719072"/>
            <a:ext cx="42976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Citizen upvoting</a:t>
            </a:r>
            <a:endParaRPr lang="en-US" sz="1700" dirty="0"/>
          </a:p>
        </p:txBody>
      </p:sp>
      <p:sp>
        <p:nvSpPr>
          <p:cNvPr id="12" name="Text 10"/>
          <p:cNvSpPr/>
          <p:nvPr/>
        </p:nvSpPr>
        <p:spPr>
          <a:xfrm>
            <a:off x="6812280" y="2286000"/>
            <a:ext cx="4983480" cy="118872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Support existing problems straight from the map. Votes raise the case's priority, so departments work on what actually hurts the most people.</a:t>
            </a:r>
            <a:endParaRPr lang="en-US" sz="1250" dirty="0"/>
          </a:p>
        </p:txBody>
      </p:sp>
      <p:sp>
        <p:nvSpPr>
          <p:cNvPr id="13" name="Shape 11"/>
          <p:cNvSpPr/>
          <p:nvPr/>
        </p:nvSpPr>
        <p:spPr>
          <a:xfrm>
            <a:off x="548640" y="3886200"/>
            <a:ext cx="5577840" cy="2240280"/>
          </a:xfrm>
          <a:prstGeom prst="roundRect">
            <a:avLst>
              <a:gd name="adj" fmla="val 4898"/>
            </a:avLst>
          </a:prstGeom>
          <a:solidFill>
            <a:srgbClr val="141A33"/>
          </a:solidFill>
          <a:ln w="15875">
            <a:solidFill>
              <a:srgbClr val="C98500"/>
            </a:solidFill>
            <a:prstDash val="solid"/>
          </a:ln>
        </p:spPr>
      </p:sp>
      <p:sp>
        <p:nvSpPr>
          <p:cNvPr id="14" name="Shape 12"/>
          <p:cNvSpPr/>
          <p:nvPr/>
        </p:nvSpPr>
        <p:spPr>
          <a:xfrm>
            <a:off x="868680" y="4160520"/>
            <a:ext cx="566928" cy="566928"/>
          </a:xfrm>
          <a:prstGeom prst="ellipse">
            <a:avLst/>
          </a:prstGeom>
          <a:solidFill>
            <a:srgbClr val="C98500">
              <a:alpha val="22000"/>
            </a:srgbClr>
          </a:solidFill>
          <a:ln w="15875">
            <a:solidFill>
              <a:srgbClr val="C98500"/>
            </a:solidFill>
            <a:prstDash val="solid"/>
          </a:ln>
        </p:spPr>
      </p:sp>
      <p:sp>
        <p:nvSpPr>
          <p:cNvPr id="15" name="Text 13"/>
          <p:cNvSpPr/>
          <p:nvPr/>
        </p:nvSpPr>
        <p:spPr>
          <a:xfrm>
            <a:off x="786384" y="414223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1600200" y="4233672"/>
            <a:ext cx="42976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English + हिन्दी</a:t>
            </a:r>
            <a:endParaRPr lang="en-US" sz="1700" dirty="0"/>
          </a:p>
        </p:txBody>
      </p:sp>
      <p:sp>
        <p:nvSpPr>
          <p:cNvPr id="17" name="Text 15"/>
          <p:cNvSpPr/>
          <p:nvPr/>
        </p:nvSpPr>
        <p:spPr>
          <a:xfrm>
            <a:off x="868680" y="4800600"/>
            <a:ext cx="4983480" cy="118872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One tap flips the whole citizen experience — wizard, categories, statuses, timeline — into Hindi, persisted per device. New language = one dictionary file.</a:t>
            </a:r>
            <a:endParaRPr lang="en-US" sz="1250" dirty="0"/>
          </a:p>
        </p:txBody>
      </p:sp>
      <p:sp>
        <p:nvSpPr>
          <p:cNvPr id="18" name="Shape 16"/>
          <p:cNvSpPr/>
          <p:nvPr/>
        </p:nvSpPr>
        <p:spPr>
          <a:xfrm>
            <a:off x="6492240" y="3886200"/>
            <a:ext cx="5577840" cy="2240280"/>
          </a:xfrm>
          <a:prstGeom prst="roundRect">
            <a:avLst>
              <a:gd name="adj" fmla="val 4898"/>
            </a:avLst>
          </a:prstGeom>
          <a:solidFill>
            <a:srgbClr val="141A33"/>
          </a:solidFill>
          <a:ln w="15875">
            <a:solidFill>
              <a:srgbClr val="D55181"/>
            </a:solidFill>
            <a:prstDash val="solid"/>
          </a:ln>
        </p:spPr>
      </p:sp>
      <p:sp>
        <p:nvSpPr>
          <p:cNvPr id="19" name="Shape 17"/>
          <p:cNvSpPr/>
          <p:nvPr/>
        </p:nvSpPr>
        <p:spPr>
          <a:xfrm>
            <a:off x="6812280" y="4160520"/>
            <a:ext cx="566928" cy="566928"/>
          </a:xfrm>
          <a:prstGeom prst="ellipse">
            <a:avLst/>
          </a:prstGeom>
          <a:solidFill>
            <a:srgbClr val="D55181">
              <a:alpha val="22000"/>
            </a:srgbClr>
          </a:solidFill>
          <a:ln w="15875">
            <a:solidFill>
              <a:srgbClr val="D55181"/>
            </a:solidFill>
            <a:prstDash val="solid"/>
          </a:ln>
        </p:spPr>
      </p:sp>
      <p:sp>
        <p:nvSpPr>
          <p:cNvPr id="20" name="Text 18"/>
          <p:cNvSpPr/>
          <p:nvPr/>
        </p:nvSpPr>
        <p:spPr>
          <a:xfrm>
            <a:off x="6729984" y="4142232"/>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7543800" y="4233672"/>
            <a:ext cx="429768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AI photo verification</a:t>
            </a:r>
            <a:endParaRPr lang="en-US" sz="1700" dirty="0"/>
          </a:p>
        </p:txBody>
      </p:sp>
      <p:sp>
        <p:nvSpPr>
          <p:cNvPr id="22" name="Text 20"/>
          <p:cNvSpPr/>
          <p:nvPr/>
        </p:nvSpPr>
        <p:spPr>
          <a:xfrm>
            <a:off x="6812280" y="4800600"/>
            <a:ext cx="4983480" cy="1188720"/>
          </a:xfrm>
          <a:prstGeom prst="rect">
            <a:avLst/>
          </a:prstGeom>
          <a:noFill/>
          <a:ln/>
        </p:spPr>
        <p:txBody>
          <a:bodyPr wrap="square" lIns="0" tIns="0" rIns="0" bIns="0" rtlCol="0" anchor="ctr"/>
          <a:lstStyle/>
          <a:p>
            <a:pPr indent="0" marL="0">
              <a:lnSpc>
                <a:spcPts val="1800"/>
              </a:lnSpc>
              <a:buNone/>
            </a:pPr>
            <a:r>
              <a:rPr lang="en-US" sz="1250" dirty="0">
                <a:solidFill>
                  <a:srgbClr val="9FA8D6"/>
                </a:solidFill>
                <a:latin typeface="Calibri" pitchFamily="34" charset="0"/>
                <a:ea typeface="Calibri" pitchFamily="34" charset="-122"/>
                <a:cs typeface="Calibri" pitchFamily="34" charset="-120"/>
              </a:rPr>
              <a:t>Claude vision cross-checks report photos against categories and proof photos against the fix — background tasks, graceful without an API key.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13"/>
        </a:solidFill>
      </p:bgPr>
    </p:bg>
    <p:spTree>
      <p:nvGrpSpPr>
        <p:cNvPr id="1" name=""/>
        <p:cNvGrpSpPr/>
        <p:nvPr/>
      </p:nvGrpSpPr>
      <p:grpSpPr>
        <a:xfrm>
          <a:off x="0" y="0"/>
          <a:ext cx="0" cy="0"/>
          <a:chOff x="0" y="0"/>
          <a:chExt cx="0" cy="0"/>
        </a:xfrm>
      </p:grpSpPr>
      <p:sp>
        <p:nvSpPr>
          <p:cNvPr id="2" name="Text 0"/>
          <p:cNvSpPr/>
          <p:nvPr/>
        </p:nvSpPr>
        <p:spPr>
          <a:xfrm>
            <a:off x="502920" y="292608"/>
            <a:ext cx="11155680" cy="777240"/>
          </a:xfrm>
          <a:prstGeom prst="rect">
            <a:avLst/>
          </a:prstGeom>
          <a:noFill/>
          <a:ln/>
        </p:spPr>
        <p:txBody>
          <a:bodyPr wrap="square" lIns="0" tIns="0" rIns="0" bIns="0" rtlCol="0" anchor="ctr"/>
          <a:lstStyle/>
          <a:p>
            <a:pPr indent="0" marL="0">
              <a:buNone/>
            </a:pPr>
            <a:r>
              <a:rPr lang="en-US" sz="3400" b="1" dirty="0">
                <a:solidFill>
                  <a:srgbClr val="E7ECFF"/>
                </a:solidFill>
                <a:latin typeface="Calibri" pitchFamily="34" charset="0"/>
                <a:ea typeface="Calibri" pitchFamily="34" charset="-122"/>
                <a:cs typeface="Calibri" pitchFamily="34" charset="-120"/>
              </a:rPr>
              <a:t>Engineered, not hacked together</a:t>
            </a:r>
            <a:endParaRPr lang="en-US" sz="3400" dirty="0"/>
          </a:p>
        </p:txBody>
      </p:sp>
      <p:sp>
        <p:nvSpPr>
          <p:cNvPr id="3" name="Shape 1"/>
          <p:cNvSpPr/>
          <p:nvPr/>
        </p:nvSpPr>
        <p:spPr>
          <a:xfrm>
            <a:off x="548640" y="1371600"/>
            <a:ext cx="2670048" cy="2286000"/>
          </a:xfrm>
          <a:prstGeom prst="roundRect">
            <a:avLst>
              <a:gd name="adj" fmla="val 4800"/>
            </a:avLst>
          </a:prstGeom>
          <a:solidFill>
            <a:srgbClr val="141A33"/>
          </a:solidFill>
          <a:ln w="15875">
            <a:solidFill>
              <a:srgbClr val="34D399"/>
            </a:solidFill>
            <a:prstDash val="solid"/>
          </a:ln>
        </p:spPr>
      </p:sp>
      <p:sp>
        <p:nvSpPr>
          <p:cNvPr id="4" name="Text 2"/>
          <p:cNvSpPr/>
          <p:nvPr/>
        </p:nvSpPr>
        <p:spPr>
          <a:xfrm>
            <a:off x="548640" y="1572768"/>
            <a:ext cx="2670048" cy="868680"/>
          </a:xfrm>
          <a:prstGeom prst="rect">
            <a:avLst/>
          </a:prstGeom>
          <a:noFill/>
          <a:ln/>
        </p:spPr>
        <p:txBody>
          <a:bodyPr wrap="square" lIns="0" tIns="0" rIns="0" bIns="0" rtlCol="0" anchor="ctr"/>
          <a:lstStyle/>
          <a:p>
            <a:pPr algn="ctr" indent="0" marL="0">
              <a:buNone/>
            </a:pPr>
            <a:r>
              <a:rPr lang="en-US" sz="4800" b="1" dirty="0">
                <a:solidFill>
                  <a:srgbClr val="34D399"/>
                </a:solidFill>
                <a:latin typeface="Calibri" pitchFamily="34" charset="0"/>
                <a:ea typeface="Calibri" pitchFamily="34" charset="-122"/>
                <a:cs typeface="Calibri" pitchFamily="34" charset="-120"/>
              </a:rPr>
              <a:t>110</a:t>
            </a:r>
            <a:endParaRPr lang="en-US" sz="4800" dirty="0"/>
          </a:p>
        </p:txBody>
      </p:sp>
      <p:sp>
        <p:nvSpPr>
          <p:cNvPr id="5" name="Text 3"/>
          <p:cNvSpPr/>
          <p:nvPr/>
        </p:nvSpPr>
        <p:spPr>
          <a:xfrm>
            <a:off x="777240" y="2514600"/>
            <a:ext cx="2212848" cy="1005840"/>
          </a:xfrm>
          <a:prstGeom prst="rect">
            <a:avLst/>
          </a:prstGeom>
          <a:noFill/>
          <a:ln/>
        </p:spPr>
        <p:txBody>
          <a:bodyPr wrap="square" lIns="0" tIns="0" rIns="0" bIns="0" rtlCol="0" anchor="ctr"/>
          <a:lstStyle/>
          <a:p>
            <a:pPr algn="ctr" indent="0" marL="0">
              <a:lnSpc>
                <a:spcPts val="1500"/>
              </a:lnSpc>
              <a:buNone/>
            </a:pPr>
            <a:r>
              <a:rPr lang="en-US" sz="1150" dirty="0">
                <a:solidFill>
                  <a:srgbClr val="9FA8D6"/>
                </a:solidFill>
                <a:latin typeface="Calibri" pitchFamily="34" charset="0"/>
                <a:ea typeface="Calibri" pitchFamily="34" charset="-122"/>
                <a:cs typeface="Calibri" pitchFamily="34" charset="-120"/>
              </a:rPr>
              <a:t>backend tests — RBAC, dedup, routing, lifecycle, SLA, votes, scoring, AI</a:t>
            </a:r>
            <a:endParaRPr lang="en-US" sz="1150" dirty="0"/>
          </a:p>
        </p:txBody>
      </p:sp>
      <p:sp>
        <p:nvSpPr>
          <p:cNvPr id="6" name="Shape 4"/>
          <p:cNvSpPr/>
          <p:nvPr/>
        </p:nvSpPr>
        <p:spPr>
          <a:xfrm>
            <a:off x="3493008" y="1371600"/>
            <a:ext cx="2670048" cy="2286000"/>
          </a:xfrm>
          <a:prstGeom prst="roundRect">
            <a:avLst>
              <a:gd name="adj" fmla="val 4800"/>
            </a:avLst>
          </a:prstGeom>
          <a:solidFill>
            <a:srgbClr val="141A33"/>
          </a:solidFill>
          <a:ln w="15875">
            <a:solidFill>
              <a:srgbClr val="38BDF8"/>
            </a:solidFill>
            <a:prstDash val="solid"/>
          </a:ln>
        </p:spPr>
      </p:sp>
      <p:sp>
        <p:nvSpPr>
          <p:cNvPr id="7" name="Text 5"/>
          <p:cNvSpPr/>
          <p:nvPr/>
        </p:nvSpPr>
        <p:spPr>
          <a:xfrm>
            <a:off x="3493008" y="1572768"/>
            <a:ext cx="2670048" cy="868680"/>
          </a:xfrm>
          <a:prstGeom prst="rect">
            <a:avLst/>
          </a:prstGeom>
          <a:noFill/>
          <a:ln/>
        </p:spPr>
        <p:txBody>
          <a:bodyPr wrap="square" lIns="0" tIns="0" rIns="0" bIns="0" rtlCol="0" anchor="ctr"/>
          <a:lstStyle/>
          <a:p>
            <a:pPr algn="ctr" indent="0" marL="0">
              <a:buNone/>
            </a:pPr>
            <a:r>
              <a:rPr lang="en-US" sz="4800" b="1" dirty="0">
                <a:solidFill>
                  <a:srgbClr val="38BDF8"/>
                </a:solidFill>
                <a:latin typeface="Calibri" pitchFamily="34" charset="0"/>
                <a:ea typeface="Calibri" pitchFamily="34" charset="-122"/>
                <a:cs typeface="Calibri" pitchFamily="34" charset="-120"/>
              </a:rPr>
              <a:t>59</a:t>
            </a:r>
            <a:endParaRPr lang="en-US" sz="4800" dirty="0"/>
          </a:p>
        </p:txBody>
      </p:sp>
      <p:sp>
        <p:nvSpPr>
          <p:cNvPr id="8" name="Text 6"/>
          <p:cNvSpPr/>
          <p:nvPr/>
        </p:nvSpPr>
        <p:spPr>
          <a:xfrm>
            <a:off x="3721608" y="2514600"/>
            <a:ext cx="2212848" cy="1005840"/>
          </a:xfrm>
          <a:prstGeom prst="rect">
            <a:avLst/>
          </a:prstGeom>
          <a:noFill/>
          <a:ln/>
        </p:spPr>
        <p:txBody>
          <a:bodyPr wrap="square" lIns="0" tIns="0" rIns="0" bIns="0" rtlCol="0" anchor="ctr"/>
          <a:lstStyle/>
          <a:p>
            <a:pPr algn="ctr" indent="0" marL="0">
              <a:lnSpc>
                <a:spcPts val="1500"/>
              </a:lnSpc>
              <a:buNone/>
            </a:pPr>
            <a:r>
              <a:rPr lang="en-US" sz="1150" dirty="0">
                <a:solidFill>
                  <a:srgbClr val="9FA8D6"/>
                </a:solidFill>
                <a:latin typeface="Calibri" pitchFamily="34" charset="0"/>
                <a:ea typeface="Calibri" pitchFamily="34" charset="-122"/>
                <a:cs typeface="Calibri" pitchFamily="34" charset="-120"/>
              </a:rPr>
              <a:t>frontend tests — wizard, dashboards, maps, lifecycle UI, i18n, badges</a:t>
            </a:r>
            <a:endParaRPr lang="en-US" sz="1150" dirty="0"/>
          </a:p>
        </p:txBody>
      </p:sp>
      <p:sp>
        <p:nvSpPr>
          <p:cNvPr id="9" name="Shape 7"/>
          <p:cNvSpPr/>
          <p:nvPr/>
        </p:nvSpPr>
        <p:spPr>
          <a:xfrm>
            <a:off x="6437376" y="1371600"/>
            <a:ext cx="2670048" cy="2286000"/>
          </a:xfrm>
          <a:prstGeom prst="roundRect">
            <a:avLst>
              <a:gd name="adj" fmla="val 4800"/>
            </a:avLst>
          </a:prstGeom>
          <a:solidFill>
            <a:srgbClr val="141A33"/>
          </a:solidFill>
          <a:ln w="15875">
            <a:solidFill>
              <a:srgbClr val="C98500"/>
            </a:solidFill>
            <a:prstDash val="solid"/>
          </a:ln>
        </p:spPr>
      </p:sp>
      <p:sp>
        <p:nvSpPr>
          <p:cNvPr id="10" name="Text 8"/>
          <p:cNvSpPr/>
          <p:nvPr/>
        </p:nvSpPr>
        <p:spPr>
          <a:xfrm>
            <a:off x="6437376" y="1572768"/>
            <a:ext cx="2670048" cy="868680"/>
          </a:xfrm>
          <a:prstGeom prst="rect">
            <a:avLst/>
          </a:prstGeom>
          <a:noFill/>
          <a:ln/>
        </p:spPr>
        <p:txBody>
          <a:bodyPr wrap="square" lIns="0" tIns="0" rIns="0" bIns="0" rtlCol="0" anchor="ctr"/>
          <a:lstStyle/>
          <a:p>
            <a:pPr algn="ctr" indent="0" marL="0">
              <a:buNone/>
            </a:pPr>
            <a:r>
              <a:rPr lang="en-US" sz="4800" b="1" dirty="0">
                <a:solidFill>
                  <a:srgbClr val="C98500"/>
                </a:solidFill>
                <a:latin typeface="Calibri" pitchFamily="34" charset="0"/>
                <a:ea typeface="Calibri" pitchFamily="34" charset="-122"/>
                <a:cs typeface="Calibri" pitchFamily="34" charset="-120"/>
              </a:rPr>
              <a:t>7</a:t>
            </a:r>
            <a:endParaRPr lang="en-US" sz="4800" dirty="0"/>
          </a:p>
        </p:txBody>
      </p:sp>
      <p:sp>
        <p:nvSpPr>
          <p:cNvPr id="11" name="Text 9"/>
          <p:cNvSpPr/>
          <p:nvPr/>
        </p:nvSpPr>
        <p:spPr>
          <a:xfrm>
            <a:off x="6665976" y="2514600"/>
            <a:ext cx="2212848" cy="1005840"/>
          </a:xfrm>
          <a:prstGeom prst="rect">
            <a:avLst/>
          </a:prstGeom>
          <a:noFill/>
          <a:ln/>
        </p:spPr>
        <p:txBody>
          <a:bodyPr wrap="square" lIns="0" tIns="0" rIns="0" bIns="0" rtlCol="0" anchor="ctr"/>
          <a:lstStyle/>
          <a:p>
            <a:pPr algn="ctr" indent="0" marL="0">
              <a:lnSpc>
                <a:spcPts val="1500"/>
              </a:lnSpc>
              <a:buNone/>
            </a:pPr>
            <a:r>
              <a:rPr lang="en-US" sz="1150" dirty="0">
                <a:solidFill>
                  <a:srgbClr val="9FA8D6"/>
                </a:solidFill>
                <a:latin typeface="Calibri" pitchFamily="34" charset="0"/>
                <a:ea typeface="Calibri" pitchFamily="34" charset="-122"/>
                <a:cs typeface="Calibri" pitchFamily="34" charset="-120"/>
              </a:rPr>
              <a:t>Alembic migrations — schema evolved feature by feature, never rebuilt</a:t>
            </a:r>
            <a:endParaRPr lang="en-US" sz="1150" dirty="0"/>
          </a:p>
        </p:txBody>
      </p:sp>
      <p:sp>
        <p:nvSpPr>
          <p:cNvPr id="12" name="Shape 10"/>
          <p:cNvSpPr/>
          <p:nvPr/>
        </p:nvSpPr>
        <p:spPr>
          <a:xfrm>
            <a:off x="9381744" y="1371600"/>
            <a:ext cx="2670048" cy="2286000"/>
          </a:xfrm>
          <a:prstGeom prst="roundRect">
            <a:avLst>
              <a:gd name="adj" fmla="val 4800"/>
            </a:avLst>
          </a:prstGeom>
          <a:solidFill>
            <a:srgbClr val="141A33"/>
          </a:solidFill>
          <a:ln w="15875">
            <a:solidFill>
              <a:srgbClr val="D55181"/>
            </a:solidFill>
            <a:prstDash val="solid"/>
          </a:ln>
        </p:spPr>
      </p:sp>
      <p:sp>
        <p:nvSpPr>
          <p:cNvPr id="13" name="Text 11"/>
          <p:cNvSpPr/>
          <p:nvPr/>
        </p:nvSpPr>
        <p:spPr>
          <a:xfrm>
            <a:off x="9381744" y="1572768"/>
            <a:ext cx="2670048" cy="868680"/>
          </a:xfrm>
          <a:prstGeom prst="rect">
            <a:avLst/>
          </a:prstGeom>
          <a:noFill/>
          <a:ln/>
        </p:spPr>
        <p:txBody>
          <a:bodyPr wrap="square" lIns="0" tIns="0" rIns="0" bIns="0" rtlCol="0" anchor="ctr"/>
          <a:lstStyle/>
          <a:p>
            <a:pPr algn="ctr" indent="0" marL="0">
              <a:buNone/>
            </a:pPr>
            <a:r>
              <a:rPr lang="en-US" sz="4800" b="1" dirty="0">
                <a:solidFill>
                  <a:srgbClr val="D55181"/>
                </a:solidFill>
                <a:latin typeface="Calibri" pitchFamily="34" charset="0"/>
                <a:ea typeface="Calibri" pitchFamily="34" charset="-122"/>
                <a:cs typeface="Calibri" pitchFamily="34" charset="-120"/>
              </a:rPr>
              <a:t>17</a:t>
            </a:r>
            <a:endParaRPr lang="en-US" sz="4800" dirty="0"/>
          </a:p>
        </p:txBody>
      </p:sp>
      <p:sp>
        <p:nvSpPr>
          <p:cNvPr id="14" name="Text 12"/>
          <p:cNvSpPr/>
          <p:nvPr/>
        </p:nvSpPr>
        <p:spPr>
          <a:xfrm>
            <a:off x="9610344" y="2514600"/>
            <a:ext cx="2212848" cy="1005840"/>
          </a:xfrm>
          <a:prstGeom prst="rect">
            <a:avLst/>
          </a:prstGeom>
          <a:noFill/>
          <a:ln/>
        </p:spPr>
        <p:txBody>
          <a:bodyPr wrap="square" lIns="0" tIns="0" rIns="0" bIns="0" rtlCol="0" anchor="ctr"/>
          <a:lstStyle/>
          <a:p>
            <a:pPr algn="ctr" indent="0" marL="0">
              <a:lnSpc>
                <a:spcPts val="1500"/>
              </a:lnSpc>
              <a:buNone/>
            </a:pPr>
            <a:r>
              <a:rPr lang="en-US" sz="1150" dirty="0">
                <a:solidFill>
                  <a:srgbClr val="9FA8D6"/>
                </a:solidFill>
                <a:latin typeface="Calibri" pitchFamily="34" charset="0"/>
                <a:ea typeface="Calibri" pitchFamily="34" charset="-122"/>
                <a:cs typeface="Calibri" pitchFamily="34" charset="-120"/>
              </a:rPr>
              <a:t>REST endpoints across auth, citizen, admin and public surfaces</a:t>
            </a:r>
            <a:endParaRPr lang="en-US" sz="1150" dirty="0"/>
          </a:p>
        </p:txBody>
      </p:sp>
      <p:sp>
        <p:nvSpPr>
          <p:cNvPr id="15" name="Shape 13"/>
          <p:cNvSpPr/>
          <p:nvPr/>
        </p:nvSpPr>
        <p:spPr>
          <a:xfrm>
            <a:off x="548640" y="3977640"/>
            <a:ext cx="11064240" cy="2377440"/>
          </a:xfrm>
          <a:prstGeom prst="roundRect">
            <a:avLst>
              <a:gd name="adj" fmla="val 4615"/>
            </a:avLst>
          </a:prstGeom>
          <a:solidFill>
            <a:srgbClr val="141A33"/>
          </a:solidFill>
          <a:ln w="15875">
            <a:solidFill>
              <a:srgbClr val="5B7BFF"/>
            </a:solidFill>
            <a:prstDash val="solid"/>
          </a:ln>
        </p:spPr>
      </p:sp>
      <p:sp>
        <p:nvSpPr>
          <p:cNvPr id="16" name="Shape 14"/>
          <p:cNvSpPr/>
          <p:nvPr/>
        </p:nvSpPr>
        <p:spPr>
          <a:xfrm>
            <a:off x="868680" y="4224528"/>
            <a:ext cx="566928" cy="566928"/>
          </a:xfrm>
          <a:prstGeom prst="ellipse">
            <a:avLst/>
          </a:prstGeom>
          <a:solidFill>
            <a:srgbClr val="5B7BFF">
              <a:alpha val="22000"/>
            </a:srgbClr>
          </a:solidFill>
          <a:ln w="15875">
            <a:solidFill>
              <a:srgbClr val="5B7BFF"/>
            </a:solidFill>
            <a:prstDash val="solid"/>
          </a:ln>
        </p:spPr>
      </p:sp>
      <p:sp>
        <p:nvSpPr>
          <p:cNvPr id="17" name="Text 15"/>
          <p:cNvSpPr/>
          <p:nvPr/>
        </p:nvSpPr>
        <p:spPr>
          <a:xfrm>
            <a:off x="786384" y="4206240"/>
            <a:ext cx="731520" cy="603504"/>
          </a:xfrm>
          <a:prstGeom prst="rect">
            <a:avLst/>
          </a:prstGeom>
          <a:noFill/>
          <a:ln/>
        </p:spPr>
        <p:txBody>
          <a:bodyPr wrap="square" lIns="0" tIns="0" rIns="0" bIns="0" rtlCol="0" anchor="ctr"/>
          <a:lstStyle/>
          <a:p>
            <a:pPr algn="ctr" indent="0" marL="0">
              <a:buNone/>
            </a:pPr>
            <a:r>
              <a:rPr lang="en-US" sz="2200" dirty="0">
                <a:solidFill>
                  <a:srgbClr val="E7EC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1600200" y="4297680"/>
            <a:ext cx="9601200" cy="411480"/>
          </a:xfrm>
          <a:prstGeom prst="rect">
            <a:avLst/>
          </a:prstGeom>
          <a:noFill/>
          <a:ln/>
        </p:spPr>
        <p:txBody>
          <a:bodyPr wrap="square" lIns="0" tIns="0" rIns="0" bIns="0" rtlCol="0" anchor="ctr"/>
          <a:lstStyle/>
          <a:p>
            <a:pPr indent="0" marL="0">
              <a:buNone/>
            </a:pPr>
            <a:r>
              <a:rPr lang="en-US" sz="1700" b="1" dirty="0">
                <a:solidFill>
                  <a:srgbClr val="E7ECFF"/>
                </a:solidFill>
                <a:latin typeface="Calibri" pitchFamily="34" charset="0"/>
                <a:ea typeface="Calibri" pitchFamily="34" charset="-122"/>
                <a:cs typeface="Calibri" pitchFamily="34" charset="-120"/>
              </a:rPr>
              <a:t>Stack &amp; security</a:t>
            </a:r>
            <a:endParaRPr lang="en-US" sz="1700" dirty="0"/>
          </a:p>
        </p:txBody>
      </p:sp>
      <p:sp>
        <p:nvSpPr>
          <p:cNvPr id="19" name="Text 17"/>
          <p:cNvSpPr/>
          <p:nvPr/>
        </p:nvSpPr>
        <p:spPr>
          <a:xfrm>
            <a:off x="1600200" y="4800600"/>
            <a:ext cx="9692640" cy="146304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00" dirty="0">
                <a:solidFill>
                  <a:srgbClr val="9FA8D6"/>
                </a:solidFill>
                <a:latin typeface="Calibri" pitchFamily="34" charset="0"/>
                <a:ea typeface="Calibri" pitchFamily="34" charset="-122"/>
                <a:cs typeface="Calibri" pitchFamily="34" charset="-120"/>
              </a:rPr>
              <a:t>FastAPI · SQLAlchemy 2 · Alembic · PostgreSQL · Pydantic v2  |  React 19 · Vite · React Router 7 · react-leaflet  |  Anthropic Claude API (vision)</a:t>
            </a:r>
            <a:endParaRPr lang="en-US" sz="1300" dirty="0"/>
          </a:p>
          <a:p>
            <a:pPr marL="342900" indent="-342900">
              <a:lnSpc>
                <a:spcPts val="1900"/>
              </a:lnSpc>
              <a:spcAft>
                <a:spcPts val="900"/>
              </a:spcAft>
              <a:buSzPct val="100000"/>
              <a:buChar char="•"/>
            </a:pPr>
            <a:r>
              <a:rPr lang="en-US" sz="1300" dirty="0">
                <a:solidFill>
                  <a:srgbClr val="9FA8D6"/>
                </a:solidFill>
                <a:latin typeface="Calibri" pitchFamily="34" charset="0"/>
                <a:ea typeface="Calibri" pitchFamily="34" charset="-122"/>
                <a:cs typeface="Calibri" pitchFamily="34" charset="-120"/>
              </a:rPr>
              <a:t>RBAC enforced on the backend — every admin endpoint rejects citizens with 403 (and vice versa), covered by tests</a:t>
            </a:r>
            <a:endParaRPr lang="en-US" sz="1300" dirty="0"/>
          </a:p>
          <a:p>
            <a:pPr marL="342900" indent="-342900">
              <a:lnSpc>
                <a:spcPts val="1900"/>
              </a:lnSpc>
              <a:buSzPct val="100000"/>
              <a:buChar char="•"/>
            </a:pPr>
            <a:r>
              <a:rPr lang="en-US" sz="1300" dirty="0">
                <a:solidFill>
                  <a:srgbClr val="9FA8D6"/>
                </a:solidFill>
                <a:latin typeface="Calibri" pitchFamily="34" charset="0"/>
                <a:ea typeface="Calibri" pitchFamily="34" charset="-122"/>
                <a:cs typeface="Calibri" pitchFamily="34" charset="-120"/>
              </a:rPr>
              <a:t>JWT in HTTP-only cookies · bcrypt password hashing · uploads validated by magic bytes, size and type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913"/>
        </a:solidFill>
      </p:bgPr>
    </p:bg>
    <p:spTree>
      <p:nvGrpSpPr>
        <p:cNvPr id="1" name=""/>
        <p:cNvGrpSpPr/>
        <p:nvPr/>
      </p:nvGrpSpPr>
      <p:grpSpPr>
        <a:xfrm>
          <a:off x="0" y="0"/>
          <a:ext cx="0" cy="0"/>
          <a:chOff x="0" y="0"/>
          <a:chExt cx="0" cy="0"/>
        </a:xfrm>
      </p:grpSpPr>
      <p:sp>
        <p:nvSpPr>
          <p:cNvPr id="2" name="Shape 0"/>
          <p:cNvSpPr/>
          <p:nvPr/>
        </p:nvSpPr>
        <p:spPr>
          <a:xfrm>
            <a:off x="-2194560" y="2560320"/>
            <a:ext cx="6400800" cy="6400800"/>
          </a:xfrm>
          <a:prstGeom prst="ellipse">
            <a:avLst/>
          </a:prstGeom>
          <a:solidFill>
            <a:srgbClr val="34D399">
              <a:alpha val="12000"/>
            </a:srgbClr>
          </a:solidFill>
          <a:ln/>
        </p:spPr>
      </p:sp>
      <p:sp>
        <p:nvSpPr>
          <p:cNvPr id="3" name="Shape 1"/>
          <p:cNvSpPr/>
          <p:nvPr/>
        </p:nvSpPr>
        <p:spPr>
          <a:xfrm>
            <a:off x="8961120" y="-2560320"/>
            <a:ext cx="6766560" cy="6766560"/>
          </a:xfrm>
          <a:prstGeom prst="ellipse">
            <a:avLst/>
          </a:prstGeom>
          <a:solidFill>
            <a:srgbClr val="5B7BFF">
              <a:alpha val="14000"/>
            </a:srgbClr>
          </a:solidFill>
          <a:ln/>
        </p:spPr>
      </p:sp>
      <p:sp>
        <p:nvSpPr>
          <p:cNvPr id="4" name="Text 2"/>
          <p:cNvSpPr/>
          <p:nvPr/>
        </p:nvSpPr>
        <p:spPr>
          <a:xfrm>
            <a:off x="914400" y="1600200"/>
            <a:ext cx="10360152" cy="822960"/>
          </a:xfrm>
          <a:prstGeom prst="rect">
            <a:avLst/>
          </a:prstGeom>
          <a:noFill/>
          <a:ln/>
        </p:spPr>
        <p:txBody>
          <a:bodyPr wrap="square" lIns="0" tIns="0" rIns="0" bIns="0" rtlCol="0" anchor="ctr"/>
          <a:lstStyle/>
          <a:p>
            <a:pPr algn="ctr" indent="0" marL="0">
              <a:buNone/>
            </a:pPr>
            <a:r>
              <a:rPr lang="en-US" sz="4000" b="1" dirty="0">
                <a:solidFill>
                  <a:srgbClr val="E7ECFF"/>
                </a:solidFill>
                <a:latin typeface="Calibri" pitchFamily="34" charset="0"/>
                <a:ea typeface="Calibri" pitchFamily="34" charset="-122"/>
                <a:cs typeface="Calibri" pitchFamily="34" charset="-120"/>
              </a:rPr>
              <a:t>Report it once.</a:t>
            </a:r>
            <a:endParaRPr lang="en-US" sz="4000" dirty="0"/>
          </a:p>
        </p:txBody>
      </p:sp>
      <p:sp>
        <p:nvSpPr>
          <p:cNvPr id="5" name="Text 3"/>
          <p:cNvSpPr/>
          <p:nvPr/>
        </p:nvSpPr>
        <p:spPr>
          <a:xfrm>
            <a:off x="914400" y="2423160"/>
            <a:ext cx="10360152" cy="822960"/>
          </a:xfrm>
          <a:prstGeom prst="rect">
            <a:avLst/>
          </a:prstGeom>
          <a:noFill/>
          <a:ln/>
        </p:spPr>
        <p:txBody>
          <a:bodyPr wrap="square" lIns="0" tIns="0" rIns="0" bIns="0" rtlCol="0" anchor="ctr"/>
          <a:lstStyle/>
          <a:p>
            <a:pPr algn="ctr" indent="0" marL="0">
              <a:buNone/>
            </a:pPr>
            <a:r>
              <a:rPr lang="en-US" sz="4000" b="1" dirty="0">
                <a:solidFill>
                  <a:srgbClr val="38BDF8"/>
                </a:solidFill>
                <a:latin typeface="Calibri" pitchFamily="34" charset="0"/>
                <a:ea typeface="Calibri" pitchFamily="34" charset="-122"/>
                <a:cs typeface="Calibri" pitchFamily="34" charset="-120"/>
              </a:rPr>
              <a:t>Track it live.</a:t>
            </a:r>
            <a:endParaRPr lang="en-US" sz="4000" dirty="0"/>
          </a:p>
        </p:txBody>
      </p:sp>
      <p:sp>
        <p:nvSpPr>
          <p:cNvPr id="6" name="Text 4"/>
          <p:cNvSpPr/>
          <p:nvPr/>
        </p:nvSpPr>
        <p:spPr>
          <a:xfrm>
            <a:off x="914400" y="3246120"/>
            <a:ext cx="10360152" cy="822960"/>
          </a:xfrm>
          <a:prstGeom prst="rect">
            <a:avLst/>
          </a:prstGeom>
          <a:noFill/>
          <a:ln/>
        </p:spPr>
        <p:txBody>
          <a:bodyPr wrap="square" lIns="0" tIns="0" rIns="0" bIns="0" rtlCol="0" anchor="ctr"/>
          <a:lstStyle/>
          <a:p>
            <a:pPr algn="ctr" indent="0" marL="0">
              <a:buNone/>
            </a:pPr>
            <a:r>
              <a:rPr lang="en-US" sz="4000" b="1" dirty="0">
                <a:solidFill>
                  <a:srgbClr val="34D399"/>
                </a:solidFill>
                <a:latin typeface="Calibri" pitchFamily="34" charset="0"/>
                <a:ea typeface="Calibri" pitchFamily="34" charset="-122"/>
                <a:cs typeface="Calibri" pitchFamily="34" charset="-120"/>
              </a:rPr>
              <a:t>Hold the city accountable.</a:t>
            </a:r>
            <a:endParaRPr lang="en-US" sz="4000" dirty="0"/>
          </a:p>
        </p:txBody>
      </p:sp>
      <p:sp>
        <p:nvSpPr>
          <p:cNvPr id="7" name="Shape 5"/>
          <p:cNvSpPr/>
          <p:nvPr/>
        </p:nvSpPr>
        <p:spPr>
          <a:xfrm>
            <a:off x="2670048" y="4572000"/>
            <a:ext cx="6858000" cy="1325880"/>
          </a:xfrm>
          <a:prstGeom prst="roundRect">
            <a:avLst>
              <a:gd name="adj" fmla="val 8276"/>
            </a:avLst>
          </a:prstGeom>
          <a:solidFill>
            <a:srgbClr val="141A33"/>
          </a:solidFill>
          <a:ln w="15875">
            <a:solidFill>
              <a:srgbClr val="2C3560"/>
            </a:solidFill>
            <a:prstDash val="solid"/>
          </a:ln>
        </p:spPr>
      </p:sp>
      <p:sp>
        <p:nvSpPr>
          <p:cNvPr id="8" name="Text 6"/>
          <p:cNvSpPr/>
          <p:nvPr/>
        </p:nvSpPr>
        <p:spPr>
          <a:xfrm>
            <a:off x="2670048" y="4754880"/>
            <a:ext cx="6858000" cy="411480"/>
          </a:xfrm>
          <a:prstGeom prst="rect">
            <a:avLst/>
          </a:prstGeom>
          <a:noFill/>
          <a:ln/>
        </p:spPr>
        <p:txBody>
          <a:bodyPr wrap="square" lIns="0" tIns="0" rIns="0" bIns="0" rtlCol="0" anchor="ctr"/>
          <a:lstStyle/>
          <a:p>
            <a:pPr algn="ctr" indent="0" marL="0">
              <a:buNone/>
            </a:pPr>
            <a:r>
              <a:rPr lang="en-US" sz="1400" dirty="0">
                <a:solidFill>
                  <a:srgbClr val="E7ECFF"/>
                </a:solidFill>
                <a:latin typeface="Calibri" pitchFamily="34" charset="0"/>
                <a:ea typeface="Calibri" pitchFamily="34" charset="-122"/>
                <a:cs typeface="Calibri" pitchFamily="34" charset="-120"/>
              </a:rPr>
              <a:t>Live demo:  citizen portal · admin command center · /transparency</a:t>
            </a:r>
            <a:endParaRPr lang="en-US" sz="1400" dirty="0"/>
          </a:p>
        </p:txBody>
      </p:sp>
      <p:sp>
        <p:nvSpPr>
          <p:cNvPr id="9" name="Text 7"/>
          <p:cNvSpPr/>
          <p:nvPr/>
        </p:nvSpPr>
        <p:spPr>
          <a:xfrm>
            <a:off x="2670048" y="5212080"/>
            <a:ext cx="6858000" cy="411480"/>
          </a:xfrm>
          <a:prstGeom prst="rect">
            <a:avLst/>
          </a:prstGeom>
          <a:noFill/>
          <a:ln/>
        </p:spPr>
        <p:txBody>
          <a:bodyPr wrap="square" lIns="0" tIns="0" rIns="0" bIns="0" rtlCol="0" anchor="ctr"/>
          <a:lstStyle/>
          <a:p>
            <a:pPr algn="ctr" indent="0" marL="0">
              <a:buNone/>
            </a:pPr>
            <a:r>
              <a:rPr lang="en-US" sz="1250" dirty="0">
                <a:solidFill>
                  <a:srgbClr val="9FA8D6"/>
                </a:solidFill>
                <a:latin typeface="Calibri" pitchFamily="34" charset="0"/>
                <a:ea typeface="Calibri" pitchFamily="34" charset="-122"/>
                <a:cs typeface="Calibri" pitchFamily="34" charset="-120"/>
              </a:rPr>
              <a:t>github.com/Nipurnbandi/HackInMotion-RICR-HIM-1041  ·  Team HackInMotion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2026-08-14T11:43:28Z</dcterms:created>
  <dcterms:modified xsi:type="dcterms:W3CDTF">2026-08-14T11:43:28Z</dcterms:modified>
</cp:coreProperties>
</file>